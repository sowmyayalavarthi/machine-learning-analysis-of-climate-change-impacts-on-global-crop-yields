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308" r:id="rId2"/>
    <p:sldId id="309" r:id="rId3"/>
    <p:sldId id="313" r:id="rId4"/>
    <p:sldId id="327" r:id="rId5"/>
    <p:sldId id="314" r:id="rId6"/>
    <p:sldId id="316" r:id="rId7"/>
    <p:sldId id="317" r:id="rId8"/>
    <p:sldId id="318" r:id="rId9"/>
    <p:sldId id="319" r:id="rId10"/>
    <p:sldId id="320" r:id="rId11"/>
    <p:sldId id="339" r:id="rId12"/>
    <p:sldId id="321" r:id="rId13"/>
    <p:sldId id="324" r:id="rId14"/>
    <p:sldId id="330" r:id="rId15"/>
    <p:sldId id="323" r:id="rId16"/>
    <p:sldId id="322" r:id="rId17"/>
    <p:sldId id="326" r:id="rId18"/>
    <p:sldId id="331" r:id="rId19"/>
    <p:sldId id="340" r:id="rId20"/>
    <p:sldId id="332" r:id="rId21"/>
    <p:sldId id="335" r:id="rId22"/>
    <p:sldId id="336" r:id="rId23"/>
    <p:sldId id="337" r:id="rId24"/>
    <p:sldId id="338" r:id="rId25"/>
    <p:sldId id="334"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5A3E207-5AD0-44FA-A249-5BCD49AE677B}">
          <p14:sldIdLst>
            <p14:sldId id="308"/>
            <p14:sldId id="309"/>
            <p14:sldId id="313"/>
            <p14:sldId id="327"/>
            <p14:sldId id="314"/>
            <p14:sldId id="316"/>
            <p14:sldId id="317"/>
            <p14:sldId id="318"/>
            <p14:sldId id="319"/>
            <p14:sldId id="320"/>
            <p14:sldId id="339"/>
            <p14:sldId id="321"/>
            <p14:sldId id="324"/>
            <p14:sldId id="330"/>
            <p14:sldId id="323"/>
            <p14:sldId id="322"/>
            <p14:sldId id="326"/>
            <p14:sldId id="331"/>
            <p14:sldId id="340"/>
            <p14:sldId id="332"/>
            <p14:sldId id="335"/>
            <p14:sldId id="336"/>
            <p14:sldId id="337"/>
            <p14:sldId id="338"/>
            <p14:sldId id="33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342" autoAdjust="0"/>
    <p:restoredTop sz="94660"/>
  </p:normalViewPr>
  <p:slideViewPr>
    <p:cSldViewPr snapToGrid="0">
      <p:cViewPr varScale="1">
        <p:scale>
          <a:sx n="109" d="100"/>
          <a:sy n="109" d="100"/>
        </p:scale>
        <p:origin x="216" y="544"/>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5809364-89C0-453C-A87C-F43B12BADE75}" type="datetimeFigureOut">
              <a:rPr lang="en-IN" smtClean="0"/>
              <a:t>12/05/25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2DE9B5-FFC0-445B-BBFA-2DD1D68EE263}" type="slidenum">
              <a:rPr lang="en-IN" smtClean="0"/>
              <a:t>‹#›</a:t>
            </a:fld>
            <a:endParaRPr lang="en-IN"/>
          </a:p>
        </p:txBody>
      </p:sp>
    </p:spTree>
    <p:extLst>
      <p:ext uri="{BB962C8B-B14F-4D97-AF65-F5344CB8AC3E}">
        <p14:creationId xmlns:p14="http://schemas.microsoft.com/office/powerpoint/2010/main" val="17138711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809364-89C0-453C-A87C-F43B12BADE75}" type="datetimeFigureOut">
              <a:rPr lang="en-IN" smtClean="0"/>
              <a:t>12/05/25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2DE9B5-FFC0-445B-BBFA-2DD1D68EE263}" type="slidenum">
              <a:rPr lang="en-IN" smtClean="0"/>
              <a:t>‹#›</a:t>
            </a:fld>
            <a:endParaRPr lang="en-IN"/>
          </a:p>
        </p:txBody>
      </p:sp>
    </p:spTree>
    <p:extLst>
      <p:ext uri="{BB962C8B-B14F-4D97-AF65-F5344CB8AC3E}">
        <p14:creationId xmlns:p14="http://schemas.microsoft.com/office/powerpoint/2010/main" val="1416183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809364-89C0-453C-A87C-F43B12BADE75}" type="datetimeFigureOut">
              <a:rPr lang="en-IN" smtClean="0"/>
              <a:t>12/05/25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2DE9B5-FFC0-445B-BBFA-2DD1D68EE263}" type="slidenum">
              <a:rPr lang="en-IN" smtClean="0"/>
              <a:t>‹#›</a:t>
            </a:fld>
            <a:endParaRPr lang="en-IN"/>
          </a:p>
        </p:txBody>
      </p:sp>
    </p:spTree>
    <p:extLst>
      <p:ext uri="{BB962C8B-B14F-4D97-AF65-F5344CB8AC3E}">
        <p14:creationId xmlns:p14="http://schemas.microsoft.com/office/powerpoint/2010/main" val="20870782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5809364-89C0-453C-A87C-F43B12BADE75}" type="datetimeFigureOut">
              <a:rPr lang="en-IN" smtClean="0"/>
              <a:t>12/05/25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62DE9B5-FFC0-445B-BBFA-2DD1D68EE263}" type="slidenum">
              <a:rPr lang="en-IN" smtClean="0"/>
              <a:t>‹#›</a:t>
            </a:fld>
            <a:endParaRPr lang="en-IN"/>
          </a:p>
        </p:txBody>
      </p:sp>
    </p:spTree>
    <p:extLst>
      <p:ext uri="{BB962C8B-B14F-4D97-AF65-F5344CB8AC3E}">
        <p14:creationId xmlns:p14="http://schemas.microsoft.com/office/powerpoint/2010/main" val="35426709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5809364-89C0-453C-A87C-F43B12BADE75}" type="datetimeFigureOut">
              <a:rPr lang="en-IN" smtClean="0"/>
              <a:t>12/05/25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62DE9B5-FFC0-445B-BBFA-2DD1D68EE263}" type="slidenum">
              <a:rPr lang="en-IN" smtClean="0"/>
              <a:t>‹#›</a:t>
            </a:fld>
            <a:endParaRPr lang="en-IN"/>
          </a:p>
        </p:txBody>
      </p:sp>
    </p:spTree>
    <p:extLst>
      <p:ext uri="{BB962C8B-B14F-4D97-AF65-F5344CB8AC3E}">
        <p14:creationId xmlns:p14="http://schemas.microsoft.com/office/powerpoint/2010/main" val="36629203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809364-89C0-453C-A87C-F43B12BADE75}" type="datetimeFigureOut">
              <a:rPr lang="en-IN" smtClean="0"/>
              <a:t>12/05/25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62DE9B5-FFC0-445B-BBFA-2DD1D68EE263}" type="slidenum">
              <a:rPr lang="en-IN" smtClean="0"/>
              <a:t>‹#›</a:t>
            </a:fld>
            <a:endParaRPr lang="en-IN"/>
          </a:p>
        </p:txBody>
      </p:sp>
    </p:spTree>
    <p:extLst>
      <p:ext uri="{BB962C8B-B14F-4D97-AF65-F5344CB8AC3E}">
        <p14:creationId xmlns:p14="http://schemas.microsoft.com/office/powerpoint/2010/main" val="9758834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809364-89C0-453C-A87C-F43B12BADE75}" type="datetimeFigureOut">
              <a:rPr lang="en-IN" smtClean="0"/>
              <a:t>12/05/25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62DE9B5-FFC0-445B-BBFA-2DD1D68EE263}" type="slidenum">
              <a:rPr lang="en-IN" smtClean="0"/>
              <a:t>‹#›</a:t>
            </a:fld>
            <a:endParaRPr lang="en-IN"/>
          </a:p>
        </p:txBody>
      </p:sp>
    </p:spTree>
    <p:extLst>
      <p:ext uri="{BB962C8B-B14F-4D97-AF65-F5344CB8AC3E}">
        <p14:creationId xmlns:p14="http://schemas.microsoft.com/office/powerpoint/2010/main" val="34450294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809364-89C0-453C-A87C-F43B12BADE75}" type="datetimeFigureOut">
              <a:rPr lang="en-IN" smtClean="0"/>
              <a:t>12/05/25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62DE9B5-FFC0-445B-BBFA-2DD1D68EE263}" type="slidenum">
              <a:rPr lang="en-IN" smtClean="0"/>
              <a:t>‹#›</a:t>
            </a:fld>
            <a:endParaRPr lang="en-IN"/>
          </a:p>
        </p:txBody>
      </p:sp>
    </p:spTree>
    <p:extLst>
      <p:ext uri="{BB962C8B-B14F-4D97-AF65-F5344CB8AC3E}">
        <p14:creationId xmlns:p14="http://schemas.microsoft.com/office/powerpoint/2010/main" val="2039112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809364-89C0-453C-A87C-F43B12BADE75}" type="datetimeFigureOut">
              <a:rPr lang="en-IN" smtClean="0"/>
              <a:t>12/05/25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62DE9B5-FFC0-445B-BBFA-2DD1D68EE263}" type="slidenum">
              <a:rPr lang="en-IN" smtClean="0"/>
              <a:t>‹#›</a:t>
            </a:fld>
            <a:endParaRPr lang="en-IN"/>
          </a:p>
        </p:txBody>
      </p:sp>
    </p:spTree>
    <p:extLst>
      <p:ext uri="{BB962C8B-B14F-4D97-AF65-F5344CB8AC3E}">
        <p14:creationId xmlns:p14="http://schemas.microsoft.com/office/powerpoint/2010/main" val="17143050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809364-89C0-453C-A87C-F43B12BADE75}" type="datetimeFigureOut">
              <a:rPr lang="en-IN" smtClean="0"/>
              <a:t>12/05/25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62DE9B5-FFC0-445B-BBFA-2DD1D68EE263}" type="slidenum">
              <a:rPr lang="en-IN" smtClean="0"/>
              <a:t>‹#›</a:t>
            </a:fld>
            <a:endParaRPr lang="en-IN"/>
          </a:p>
        </p:txBody>
      </p:sp>
    </p:spTree>
    <p:extLst>
      <p:ext uri="{BB962C8B-B14F-4D97-AF65-F5344CB8AC3E}">
        <p14:creationId xmlns:p14="http://schemas.microsoft.com/office/powerpoint/2010/main" val="14096342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809364-89C0-453C-A87C-F43B12BADE75}" type="datetimeFigureOut">
              <a:rPr lang="en-IN" smtClean="0"/>
              <a:t>12/05/25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62DE9B5-FFC0-445B-BBFA-2DD1D68EE263}" type="slidenum">
              <a:rPr lang="en-IN" smtClean="0"/>
              <a:t>‹#›</a:t>
            </a:fld>
            <a:endParaRPr lang="en-IN"/>
          </a:p>
        </p:txBody>
      </p:sp>
    </p:spTree>
    <p:extLst>
      <p:ext uri="{BB962C8B-B14F-4D97-AF65-F5344CB8AC3E}">
        <p14:creationId xmlns:p14="http://schemas.microsoft.com/office/powerpoint/2010/main" val="34431053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809364-89C0-453C-A87C-F43B12BADE75}" type="datetimeFigureOut">
              <a:rPr lang="en-IN" smtClean="0"/>
              <a:t>12/05/25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62DE9B5-FFC0-445B-BBFA-2DD1D68EE263}" type="slidenum">
              <a:rPr lang="en-IN" smtClean="0"/>
              <a:t>‹#›</a:t>
            </a:fld>
            <a:endParaRPr lang="en-IN"/>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8845466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809364-89C0-453C-A87C-F43B12BADE75}" type="datetimeFigureOut">
              <a:rPr lang="en-IN" smtClean="0"/>
              <a:t>12/05/25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62DE9B5-FFC0-445B-BBFA-2DD1D68EE263}" type="slidenum">
              <a:rPr lang="en-IN" smtClean="0"/>
              <a:t>‹#›</a:t>
            </a:fld>
            <a:endParaRPr lang="en-IN"/>
          </a:p>
        </p:txBody>
      </p:sp>
    </p:spTree>
    <p:extLst>
      <p:ext uri="{BB962C8B-B14F-4D97-AF65-F5344CB8AC3E}">
        <p14:creationId xmlns:p14="http://schemas.microsoft.com/office/powerpoint/2010/main" val="40285949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5809364-89C0-453C-A87C-F43B12BADE75}" type="datetimeFigureOut">
              <a:rPr lang="en-IN" smtClean="0"/>
              <a:t>12/05/25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62DE9B5-FFC0-445B-BBFA-2DD1D68EE263}" type="slidenum">
              <a:rPr lang="en-IN" smtClean="0"/>
              <a:t>‹#›</a:t>
            </a:fld>
            <a:endParaRPr lang="en-IN"/>
          </a:p>
        </p:txBody>
      </p:sp>
    </p:spTree>
    <p:extLst>
      <p:ext uri="{BB962C8B-B14F-4D97-AF65-F5344CB8AC3E}">
        <p14:creationId xmlns:p14="http://schemas.microsoft.com/office/powerpoint/2010/main" val="35731940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5809364-89C0-453C-A87C-F43B12BADE75}" type="datetimeFigureOut">
              <a:rPr lang="en-IN" smtClean="0"/>
              <a:t>12/05/25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62DE9B5-FFC0-445B-BBFA-2DD1D68EE263}" type="slidenum">
              <a:rPr lang="en-IN" smtClean="0"/>
              <a:t>‹#›</a:t>
            </a:fld>
            <a:endParaRPr lang="en-IN"/>
          </a:p>
        </p:txBody>
      </p:sp>
    </p:spTree>
    <p:extLst>
      <p:ext uri="{BB962C8B-B14F-4D97-AF65-F5344CB8AC3E}">
        <p14:creationId xmlns:p14="http://schemas.microsoft.com/office/powerpoint/2010/main" val="6360764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809364-89C0-453C-A87C-F43B12BADE75}" type="datetimeFigureOut">
              <a:rPr lang="en-IN" smtClean="0"/>
              <a:t>12/05/25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2DE9B5-FFC0-445B-BBFA-2DD1D68EE263}" type="slidenum">
              <a:rPr lang="en-IN" smtClean="0"/>
              <a:t>‹#›</a:t>
            </a:fld>
            <a:endParaRPr lang="en-IN"/>
          </a:p>
        </p:txBody>
      </p:sp>
    </p:spTree>
    <p:extLst>
      <p:ext uri="{BB962C8B-B14F-4D97-AF65-F5344CB8AC3E}">
        <p14:creationId xmlns:p14="http://schemas.microsoft.com/office/powerpoint/2010/main" val="17594876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809364-89C0-453C-A87C-F43B12BADE75}" type="datetimeFigureOut">
              <a:rPr lang="en-IN" smtClean="0"/>
              <a:t>12/05/25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2DE9B5-FFC0-445B-BBFA-2DD1D68EE263}" type="slidenum">
              <a:rPr lang="en-IN" smtClean="0"/>
              <a:t>‹#›</a:t>
            </a:fld>
            <a:endParaRPr lang="en-IN"/>
          </a:p>
        </p:txBody>
      </p:sp>
    </p:spTree>
    <p:extLst>
      <p:ext uri="{BB962C8B-B14F-4D97-AF65-F5344CB8AC3E}">
        <p14:creationId xmlns:p14="http://schemas.microsoft.com/office/powerpoint/2010/main" val="3190138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15809364-89C0-453C-A87C-F43B12BADE75}" type="datetimeFigureOut">
              <a:rPr lang="en-IN" smtClean="0"/>
              <a:t>12/05/25</a:t>
            </a:fld>
            <a:endParaRPr lang="en-IN"/>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362DE9B5-FFC0-445B-BBFA-2DD1D68EE263}" type="slidenum">
              <a:rPr lang="en-IN" smtClean="0"/>
              <a:t>‹#›</a:t>
            </a:fld>
            <a:endParaRPr lang="en-IN"/>
          </a:p>
        </p:txBody>
      </p:sp>
    </p:spTree>
    <p:extLst>
      <p:ext uri="{BB962C8B-B14F-4D97-AF65-F5344CB8AC3E}">
        <p14:creationId xmlns:p14="http://schemas.microsoft.com/office/powerpoint/2010/main" val="2084714456"/>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5" name="Picture 4" descr="A green field with trees and a river&#10;&#10;AI-generated content may be incorrect.">
            <a:extLst>
              <a:ext uri="{FF2B5EF4-FFF2-40B4-BE49-F238E27FC236}">
                <a16:creationId xmlns:a16="http://schemas.microsoft.com/office/drawing/2014/main" id="{F8DD3ACC-DEEC-6F9B-CD9B-ABC37BECC1E9}"/>
              </a:ext>
            </a:extLst>
          </p:cNvPr>
          <p:cNvPicPr>
            <a:picLocks noChangeAspect="1"/>
          </p:cNvPicPr>
          <p:nvPr/>
        </p:nvPicPr>
        <p:blipFill>
          <a:blip r:embed="rId2">
            <a:alphaModFix amt="50000"/>
            <a:extLst>
              <a:ext uri="{28A0092B-C50C-407E-A947-70E740481C1C}">
                <a14:useLocalDpi xmlns:a14="http://schemas.microsoft.com/office/drawing/2010/main" val="0"/>
              </a:ext>
            </a:extLst>
          </a:blip>
          <a:srcRect t="26458" b="16144"/>
          <a:stretch/>
        </p:blipFill>
        <p:spPr>
          <a:xfrm>
            <a:off x="20" y="1"/>
            <a:ext cx="12191980" cy="6857999"/>
          </a:xfrm>
          <a:prstGeom prst="rect">
            <a:avLst/>
          </a:prstGeom>
        </p:spPr>
      </p:pic>
      <p:sp>
        <p:nvSpPr>
          <p:cNvPr id="2" name="Title 1">
            <a:extLst>
              <a:ext uri="{FF2B5EF4-FFF2-40B4-BE49-F238E27FC236}">
                <a16:creationId xmlns:a16="http://schemas.microsoft.com/office/drawing/2014/main" id="{912FAF32-A951-6431-1C4D-32DD3B375EE5}"/>
              </a:ext>
            </a:extLst>
          </p:cNvPr>
          <p:cNvSpPr>
            <a:spLocks noGrp="1"/>
          </p:cNvSpPr>
          <p:nvPr>
            <p:ph type="ctrTitle"/>
          </p:nvPr>
        </p:nvSpPr>
        <p:spPr>
          <a:xfrm>
            <a:off x="738554" y="-586154"/>
            <a:ext cx="10539046" cy="3389834"/>
          </a:xfrm>
        </p:spPr>
        <p:txBody>
          <a:bodyPr>
            <a:normAutofit/>
          </a:bodyPr>
          <a:lstStyle/>
          <a:p>
            <a:r>
              <a:rPr lang="en-US" dirty="0">
                <a:solidFill>
                  <a:srgbClr val="FFFFFF"/>
                </a:solidFill>
                <a:latin typeface="Times New Roman" panose="02020603050405020304" pitchFamily="18" charset="0"/>
                <a:cs typeface="Times New Roman" panose="02020603050405020304" pitchFamily="18" charset="0"/>
              </a:rPr>
              <a:t>Machine Learning Analysis </a:t>
            </a:r>
            <a:br>
              <a:rPr lang="en-US" dirty="0">
                <a:solidFill>
                  <a:srgbClr val="FFFFFF"/>
                </a:solidFill>
                <a:latin typeface="Times New Roman" panose="02020603050405020304" pitchFamily="18" charset="0"/>
                <a:cs typeface="Times New Roman" panose="02020603050405020304" pitchFamily="18" charset="0"/>
              </a:rPr>
            </a:br>
            <a:r>
              <a:rPr lang="en-US" dirty="0">
                <a:solidFill>
                  <a:srgbClr val="FFFFFF"/>
                </a:solidFill>
                <a:latin typeface="Times New Roman" panose="02020603050405020304" pitchFamily="18" charset="0"/>
                <a:cs typeface="Times New Roman" panose="02020603050405020304" pitchFamily="18" charset="0"/>
              </a:rPr>
              <a:t>of Climate Change</a:t>
            </a:r>
            <a:br>
              <a:rPr lang="en-US" dirty="0">
                <a:solidFill>
                  <a:srgbClr val="FFFFFF"/>
                </a:solidFill>
                <a:latin typeface="Times New Roman" panose="02020603050405020304" pitchFamily="18" charset="0"/>
                <a:cs typeface="Times New Roman" panose="02020603050405020304" pitchFamily="18" charset="0"/>
              </a:rPr>
            </a:br>
            <a:r>
              <a:rPr lang="en-US" dirty="0">
                <a:solidFill>
                  <a:srgbClr val="FFFFFF"/>
                </a:solidFill>
                <a:latin typeface="Times New Roman" panose="02020603050405020304" pitchFamily="18" charset="0"/>
                <a:cs typeface="Times New Roman" panose="02020603050405020304" pitchFamily="18" charset="0"/>
              </a:rPr>
              <a:t> Impacts on Global Crop Yields</a:t>
            </a:r>
          </a:p>
        </p:txBody>
      </p:sp>
      <p:sp>
        <p:nvSpPr>
          <p:cNvPr id="3" name="Subtitle 2">
            <a:extLst>
              <a:ext uri="{FF2B5EF4-FFF2-40B4-BE49-F238E27FC236}">
                <a16:creationId xmlns:a16="http://schemas.microsoft.com/office/drawing/2014/main" id="{3F422670-C947-4278-B967-12727B5F97F9}"/>
              </a:ext>
            </a:extLst>
          </p:cNvPr>
          <p:cNvSpPr>
            <a:spLocks noGrp="1"/>
          </p:cNvSpPr>
          <p:nvPr>
            <p:ph type="subTitle" idx="1"/>
          </p:nvPr>
        </p:nvSpPr>
        <p:spPr>
          <a:xfrm>
            <a:off x="1436077" y="4042723"/>
            <a:ext cx="9144000" cy="1576234"/>
          </a:xfrm>
        </p:spPr>
        <p:txBody>
          <a:bodyPr>
            <a:noAutofit/>
          </a:bodyPr>
          <a:lstStyle/>
          <a:p>
            <a:r>
              <a:rPr lang="en-US" sz="2000" dirty="0">
                <a:solidFill>
                  <a:srgbClr val="FFFFFF"/>
                </a:solidFill>
                <a:latin typeface="Times New Roman" panose="02020603050405020304" pitchFamily="18" charset="0"/>
                <a:cs typeface="Times New Roman" panose="02020603050405020304" pitchFamily="18" charset="0"/>
              </a:rPr>
              <a:t>Sowmya Yalavarthi</a:t>
            </a:r>
          </a:p>
          <a:p>
            <a:r>
              <a:rPr lang="en-US" sz="2000" dirty="0">
                <a:solidFill>
                  <a:srgbClr val="FFFFFF"/>
                </a:solidFill>
                <a:latin typeface="Times New Roman" panose="02020603050405020304" pitchFamily="18" charset="0"/>
                <a:cs typeface="Times New Roman" panose="02020603050405020304" pitchFamily="18" charset="0"/>
              </a:rPr>
              <a:t>Anuhya </a:t>
            </a:r>
            <a:r>
              <a:rPr lang="en-US" sz="2000" dirty="0" err="1">
                <a:solidFill>
                  <a:srgbClr val="FFFFFF"/>
                </a:solidFill>
                <a:latin typeface="Times New Roman" panose="02020603050405020304" pitchFamily="18" charset="0"/>
                <a:cs typeface="Times New Roman" panose="02020603050405020304" pitchFamily="18" charset="0"/>
              </a:rPr>
              <a:t>Balineni</a:t>
            </a:r>
            <a:endParaRPr lang="en-US" sz="2000" dirty="0">
              <a:solidFill>
                <a:srgbClr val="FFFFFF"/>
              </a:solidFill>
              <a:latin typeface="Times New Roman" panose="02020603050405020304" pitchFamily="18" charset="0"/>
              <a:cs typeface="Times New Roman" panose="02020603050405020304" pitchFamily="18" charset="0"/>
            </a:endParaRPr>
          </a:p>
          <a:p>
            <a:r>
              <a:rPr lang="en-US" sz="2000" dirty="0">
                <a:solidFill>
                  <a:srgbClr val="FFFFFF"/>
                </a:solidFill>
                <a:latin typeface="Times New Roman" panose="02020603050405020304" pitchFamily="18" charset="0"/>
                <a:cs typeface="Times New Roman" panose="02020603050405020304" pitchFamily="18" charset="0"/>
              </a:rPr>
              <a:t>Hari Gopal </a:t>
            </a:r>
            <a:r>
              <a:rPr lang="en-US" sz="2000" dirty="0" err="1">
                <a:solidFill>
                  <a:srgbClr val="FFFFFF"/>
                </a:solidFill>
                <a:latin typeface="Times New Roman" panose="02020603050405020304" pitchFamily="18" charset="0"/>
                <a:cs typeface="Times New Roman" panose="02020603050405020304" pitchFamily="18" charset="0"/>
              </a:rPr>
              <a:t>Chalamalasetty</a:t>
            </a:r>
            <a:endParaRPr lang="en-US" sz="2000" dirty="0">
              <a:solidFill>
                <a:srgbClr val="FFFFFF"/>
              </a:solidFill>
              <a:latin typeface="Times New Roman" panose="02020603050405020304" pitchFamily="18" charset="0"/>
              <a:cs typeface="Times New Roman" panose="02020603050405020304" pitchFamily="18" charset="0"/>
            </a:endParaRPr>
          </a:p>
          <a:p>
            <a:r>
              <a:rPr lang="en-US" sz="2000" dirty="0">
                <a:solidFill>
                  <a:srgbClr val="FFFFFF"/>
                </a:solidFill>
                <a:latin typeface="Times New Roman" panose="02020603050405020304" pitchFamily="18" charset="0"/>
                <a:cs typeface="Times New Roman" panose="02020603050405020304" pitchFamily="18" charset="0"/>
              </a:rPr>
              <a:t>Sai Ramya </a:t>
            </a:r>
            <a:r>
              <a:rPr lang="en-US" sz="2000" dirty="0" err="1">
                <a:solidFill>
                  <a:srgbClr val="FFFFFF"/>
                </a:solidFill>
                <a:latin typeface="Times New Roman" panose="02020603050405020304" pitchFamily="18" charset="0"/>
                <a:cs typeface="Times New Roman" panose="02020603050405020304" pitchFamily="18" charset="0"/>
              </a:rPr>
              <a:t>Kasumurthy</a:t>
            </a:r>
            <a:endParaRPr lang="en-US" sz="2000"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3447909"/>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pic>
        <p:nvPicPr>
          <p:cNvPr id="7" name="Picture 6" descr="A green field with trees and a river&#10;&#10;AI-generated content may be incorrect.">
            <a:extLst>
              <a:ext uri="{FF2B5EF4-FFF2-40B4-BE49-F238E27FC236}">
                <a16:creationId xmlns:a16="http://schemas.microsoft.com/office/drawing/2014/main" id="{0ACC6CB8-8E01-95BA-5D80-F35F38BC0F1A}"/>
              </a:ext>
            </a:extLst>
          </p:cNvPr>
          <p:cNvPicPr>
            <a:picLocks noChangeAspect="1"/>
          </p:cNvPicPr>
          <p:nvPr/>
        </p:nvPicPr>
        <p:blipFill>
          <a:blip r:embed="rId3">
            <a:alphaModFix amt="35000"/>
            <a:extLst>
              <a:ext uri="{28A0092B-C50C-407E-A947-70E740481C1C}">
                <a14:useLocalDpi xmlns:a14="http://schemas.microsoft.com/office/drawing/2010/main" val="0"/>
              </a:ext>
            </a:extLst>
          </a:blip>
          <a:srcRect t="26467" b="16152"/>
          <a:stretch/>
        </p:blipFill>
        <p:spPr>
          <a:xfrm>
            <a:off x="20" y="2030"/>
            <a:ext cx="12191980" cy="6855970"/>
          </a:xfrm>
          <a:prstGeom prst="rect">
            <a:avLst/>
          </a:prstGeom>
        </p:spPr>
      </p:pic>
      <p:sp>
        <p:nvSpPr>
          <p:cNvPr id="12" name="Rectangle 11">
            <a:extLst>
              <a:ext uri="{FF2B5EF4-FFF2-40B4-BE49-F238E27FC236}">
                <a16:creationId xmlns:a16="http://schemas.microsoft.com/office/drawing/2014/main" id="{4DE0D6BE-330A-422D-9BD9-1E18F73C6E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32000">
                <a:schemeClr val="bg2">
                  <a:lumMod val="75000"/>
                  <a:alpha val="3000"/>
                </a:schemeClr>
              </a:gs>
              <a:gs pos="100000">
                <a:sysClr val="windowText" lastClr="000000">
                  <a:alpha val="70000"/>
                </a:sysClr>
              </a:gs>
            </a:gsLst>
            <a:path path="circle">
              <a:fillToRect l="50000" t="5000" r="50000" b="95000"/>
            </a:path>
            <a:tileRect/>
          </a:gra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 name="Title 1">
            <a:extLst>
              <a:ext uri="{FF2B5EF4-FFF2-40B4-BE49-F238E27FC236}">
                <a16:creationId xmlns:a16="http://schemas.microsoft.com/office/drawing/2014/main" id="{66A42059-C57F-FA8A-A066-70D1F7F40851}"/>
              </a:ext>
            </a:extLst>
          </p:cNvPr>
          <p:cNvSpPr>
            <a:spLocks noGrp="1"/>
          </p:cNvSpPr>
          <p:nvPr>
            <p:ph type="title"/>
          </p:nvPr>
        </p:nvSpPr>
        <p:spPr>
          <a:xfrm>
            <a:off x="913795" y="609600"/>
            <a:ext cx="10353761" cy="1326321"/>
          </a:xfrm>
        </p:spPr>
        <p:txBody>
          <a:bodyPr>
            <a:normAutofit/>
          </a:bodyPr>
          <a:lstStyle/>
          <a:p>
            <a:r>
              <a:rPr lang="en-US" sz="3200" dirty="0">
                <a:latin typeface="Times New Roman" panose="02020603050405020304" pitchFamily="18" charset="0"/>
                <a:cs typeface="Times New Roman" panose="02020603050405020304" pitchFamily="18" charset="0"/>
              </a:rPr>
              <a:t>Project Introduction &amp; Statement</a:t>
            </a:r>
          </a:p>
        </p:txBody>
      </p:sp>
      <p:sp>
        <p:nvSpPr>
          <p:cNvPr id="4" name="Rectangle 1">
            <a:extLst>
              <a:ext uri="{FF2B5EF4-FFF2-40B4-BE49-F238E27FC236}">
                <a16:creationId xmlns:a16="http://schemas.microsoft.com/office/drawing/2014/main" id="{968F0DC6-7CFC-CD3C-4124-7B499F3EBBD9}"/>
              </a:ext>
            </a:extLst>
          </p:cNvPr>
          <p:cNvSpPr>
            <a:spLocks noGrp="1" noChangeArrowheads="1"/>
          </p:cNvSpPr>
          <p:nvPr>
            <p:ph idx="1"/>
          </p:nvPr>
        </p:nvSpPr>
        <p:spPr bwMode="auto">
          <a:xfrm>
            <a:off x="913795" y="2096064"/>
            <a:ext cx="10353762" cy="369513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marL="0" marR="0" lvl="0" indent="0" defTabSz="914400" rtl="0" eaLnBrk="0" fontAlgn="base" latinLnBrk="0" hangingPunct="0">
              <a:lnSpc>
                <a:spcPct val="100000"/>
              </a:lnSpc>
              <a:spcBef>
                <a:spcPct val="0"/>
              </a:spcBef>
              <a:spcAft>
                <a:spcPts val="600"/>
              </a:spcAft>
              <a:buClrTx/>
              <a:buSzTx/>
              <a:buFontTx/>
              <a:buNone/>
              <a:tabLst/>
            </a:pPr>
            <a:r>
              <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rPr>
              <a:t>Climate change is driving a 5–30% global decline in crop yields (IPCC). Traditional models often fail to capture region-specific vulnerabilities and nonlinear climate-crop dynamics. Rising CO₂ levels, temperature anomalies, and precipitation shifts require data-driven, adaptive strategies for food security.</a:t>
            </a:r>
          </a:p>
          <a:p>
            <a:pPr marL="0" marR="0" lvl="0" indent="0" defTabSz="914400" rtl="0" eaLnBrk="0" fontAlgn="base" latinLnBrk="0" hangingPunct="0">
              <a:lnSpc>
                <a:spcPct val="100000"/>
              </a:lnSpc>
              <a:spcBef>
                <a:spcPct val="0"/>
              </a:spcBef>
              <a:spcAft>
                <a:spcPts val="600"/>
              </a:spcAft>
              <a:buClrTx/>
              <a:buSzTx/>
              <a:buFontTx/>
              <a:buNone/>
              <a:tabLst/>
            </a:pPr>
            <a:endParaRPr lang="en-US" altLang="en-US" b="1" dirty="0">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ts val="600"/>
              </a:spcAft>
              <a:buClrTx/>
              <a:buSzTx/>
              <a:buFontTx/>
              <a:buNone/>
              <a:tabLst/>
            </a:pPr>
            <a:endPar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ts val="600"/>
              </a:spcAft>
              <a:buClrTx/>
              <a:buSzTx/>
              <a:buFontTx/>
              <a:buNone/>
              <a:tabLst/>
            </a:pPr>
            <a:r>
              <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rPr>
              <a:t>To develop a machine learning pipeline that predicts climate-induced yield changes for maize, wheat, rice, and soybean across five global regions. To identify resilient crops, vulnerable regions, and optimal CO₂ thresholds for sustainable adaptation.</a:t>
            </a:r>
          </a:p>
        </p:txBody>
      </p:sp>
    </p:spTree>
    <p:extLst>
      <p:ext uri="{BB962C8B-B14F-4D97-AF65-F5344CB8AC3E}">
        <p14:creationId xmlns:p14="http://schemas.microsoft.com/office/powerpoint/2010/main" val="2925566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03534-DE2A-CE08-9B71-56C22F80A6FE}"/>
            </a:ext>
          </a:extLst>
        </p:cNvPr>
        <p:cNvGrpSpPr/>
        <p:nvPr/>
      </p:nvGrpSpPr>
      <p:grpSpPr>
        <a:xfrm>
          <a:off x="0" y="0"/>
          <a:ext cx="0" cy="0"/>
          <a:chOff x="0" y="0"/>
          <a:chExt cx="0" cy="0"/>
        </a:xfrm>
      </p:grpSpPr>
      <p:pic>
        <p:nvPicPr>
          <p:cNvPr id="8" name="Picture 7" descr="A green field with trees and a river&#10;&#10;AI-generated content may be incorrect.">
            <a:extLst>
              <a:ext uri="{FF2B5EF4-FFF2-40B4-BE49-F238E27FC236}">
                <a16:creationId xmlns:a16="http://schemas.microsoft.com/office/drawing/2014/main" id="{B2A57ABB-F03A-C452-3764-1A061EF3C27D}"/>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6467" b="16152"/>
          <a:stretch/>
        </p:blipFill>
        <p:spPr>
          <a:xfrm>
            <a:off x="-5315" y="37199"/>
            <a:ext cx="12191980" cy="6855970"/>
          </a:xfrm>
          <a:prstGeom prst="rect">
            <a:avLst/>
          </a:prstGeom>
        </p:spPr>
      </p:pic>
      <p:sp>
        <p:nvSpPr>
          <p:cNvPr id="2" name="Title 1">
            <a:extLst>
              <a:ext uri="{FF2B5EF4-FFF2-40B4-BE49-F238E27FC236}">
                <a16:creationId xmlns:a16="http://schemas.microsoft.com/office/drawing/2014/main" id="{6164EE86-0F4B-E340-E70B-B3D7907D8B5A}"/>
              </a:ext>
            </a:extLst>
          </p:cNvPr>
          <p:cNvSpPr>
            <a:spLocks noGrp="1"/>
          </p:cNvSpPr>
          <p:nvPr>
            <p:ph type="title"/>
          </p:nvPr>
        </p:nvSpPr>
        <p:spPr>
          <a:xfrm>
            <a:off x="913795" y="609600"/>
            <a:ext cx="10353761" cy="1326321"/>
          </a:xfrm>
        </p:spPr>
        <p:txBody>
          <a:bodyPr>
            <a:normAutofit/>
          </a:bodyPr>
          <a:lstStyle/>
          <a:p>
            <a:r>
              <a:rPr lang="en-US" dirty="0">
                <a:latin typeface="Times New Roman" panose="02020603050405020304" pitchFamily="18" charset="0"/>
                <a:cs typeface="Times New Roman" panose="02020603050405020304" pitchFamily="18" charset="0"/>
              </a:rPr>
              <a:t>dataset</a:t>
            </a:r>
          </a:p>
        </p:txBody>
      </p:sp>
      <p:sp>
        <p:nvSpPr>
          <p:cNvPr id="4" name="Rectangle 1">
            <a:extLst>
              <a:ext uri="{FF2B5EF4-FFF2-40B4-BE49-F238E27FC236}">
                <a16:creationId xmlns:a16="http://schemas.microsoft.com/office/drawing/2014/main" id="{D0C8EE4E-2B1F-68DC-DCD4-F96B0BD4E315}"/>
              </a:ext>
            </a:extLst>
          </p:cNvPr>
          <p:cNvSpPr>
            <a:spLocks noGrp="1" noChangeArrowheads="1"/>
          </p:cNvSpPr>
          <p:nvPr>
            <p:ph idx="1"/>
          </p:nvPr>
        </p:nvSpPr>
        <p:spPr bwMode="auto">
          <a:xfrm>
            <a:off x="913795" y="2398770"/>
            <a:ext cx="6445189" cy="3113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latin typeface="Times New Roman" panose="02020603050405020304" pitchFamily="18" charset="0"/>
                <a:cs typeface="Times New Roman" panose="02020603050405020304" pitchFamily="18" charset="0"/>
              </a:rPr>
              <a:t>The dataset includes 8,527 records with 40 climate and agronomic features, covering 5 global regions and 4 staple crops (maize, wheat, rice, soybean). Key variables span delta temperature, CO₂ levels, precipitation, projected yields, irrigation, and soil quality.</a:t>
            </a:r>
          </a:p>
          <a:p>
            <a:endParaRPr 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4D3B8F5A-19A2-E82B-96B0-197AEC8E7B75}"/>
              </a:ext>
            </a:extLst>
          </p:cNvPr>
          <p:cNvPicPr>
            <a:picLocks noChangeAspect="1"/>
          </p:cNvPicPr>
          <p:nvPr/>
        </p:nvPicPr>
        <p:blipFill>
          <a:blip r:embed="rId3"/>
          <a:stretch>
            <a:fillRect/>
          </a:stretch>
        </p:blipFill>
        <p:spPr>
          <a:xfrm>
            <a:off x="7546019" y="1693200"/>
            <a:ext cx="3881919" cy="4866686"/>
          </a:xfrm>
          <a:prstGeom prst="rect">
            <a:avLst/>
          </a:prstGeom>
        </p:spPr>
      </p:pic>
    </p:spTree>
    <p:extLst>
      <p:ext uri="{BB962C8B-B14F-4D97-AF65-F5344CB8AC3E}">
        <p14:creationId xmlns:p14="http://schemas.microsoft.com/office/powerpoint/2010/main" val="7626842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CA33E-F1F5-0235-F2D9-85CBD646BB1C}"/>
            </a:ext>
          </a:extLst>
        </p:cNvPr>
        <p:cNvGrpSpPr/>
        <p:nvPr/>
      </p:nvGrpSpPr>
      <p:grpSpPr>
        <a:xfrm>
          <a:off x="0" y="0"/>
          <a:ext cx="0" cy="0"/>
          <a:chOff x="0" y="0"/>
          <a:chExt cx="0" cy="0"/>
        </a:xfrm>
      </p:grpSpPr>
      <p:pic>
        <p:nvPicPr>
          <p:cNvPr id="8" name="Picture 7" descr="A green field with trees and a river&#10;&#10;AI-generated content may be incorrect.">
            <a:extLst>
              <a:ext uri="{FF2B5EF4-FFF2-40B4-BE49-F238E27FC236}">
                <a16:creationId xmlns:a16="http://schemas.microsoft.com/office/drawing/2014/main" id="{52E02BFB-7D12-485B-7269-76A8ACF0C080}"/>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6467" b="16152"/>
          <a:stretch/>
        </p:blipFill>
        <p:spPr>
          <a:xfrm>
            <a:off x="-5315" y="2030"/>
            <a:ext cx="12191980" cy="6855970"/>
          </a:xfrm>
          <a:prstGeom prst="rect">
            <a:avLst/>
          </a:prstGeom>
        </p:spPr>
      </p:pic>
      <p:sp>
        <p:nvSpPr>
          <p:cNvPr id="2" name="Title 1">
            <a:extLst>
              <a:ext uri="{FF2B5EF4-FFF2-40B4-BE49-F238E27FC236}">
                <a16:creationId xmlns:a16="http://schemas.microsoft.com/office/drawing/2014/main" id="{DCF40E6A-36C5-427C-70B0-9CED46F299DA}"/>
              </a:ext>
            </a:extLst>
          </p:cNvPr>
          <p:cNvSpPr>
            <a:spLocks noGrp="1"/>
          </p:cNvSpPr>
          <p:nvPr>
            <p:ph type="title"/>
          </p:nvPr>
        </p:nvSpPr>
        <p:spPr>
          <a:xfrm>
            <a:off x="913795" y="609600"/>
            <a:ext cx="10353761" cy="1326321"/>
          </a:xfrm>
        </p:spPr>
        <p:txBody>
          <a:bodyPr>
            <a:normAutofit/>
          </a:bodyPr>
          <a:lstStyle/>
          <a:p>
            <a:r>
              <a:rPr lang="en-US" dirty="0">
                <a:latin typeface="Times New Roman" panose="02020603050405020304" pitchFamily="18" charset="0"/>
                <a:cs typeface="Times New Roman" panose="02020603050405020304" pitchFamily="18" charset="0"/>
              </a:rPr>
              <a:t>Exploratory Data Analysis</a:t>
            </a:r>
          </a:p>
        </p:txBody>
      </p:sp>
      <p:sp>
        <p:nvSpPr>
          <p:cNvPr id="4" name="Rectangle 1">
            <a:extLst>
              <a:ext uri="{FF2B5EF4-FFF2-40B4-BE49-F238E27FC236}">
                <a16:creationId xmlns:a16="http://schemas.microsoft.com/office/drawing/2014/main" id="{7B80E407-46C9-A325-1CB5-40B7EF854C9F}"/>
              </a:ext>
            </a:extLst>
          </p:cNvPr>
          <p:cNvSpPr>
            <a:spLocks noGrp="1" noChangeArrowheads="1"/>
          </p:cNvSpPr>
          <p:nvPr>
            <p:ph idx="1"/>
          </p:nvPr>
        </p:nvSpPr>
        <p:spPr bwMode="auto">
          <a:xfrm>
            <a:off x="764062" y="2753319"/>
            <a:ext cx="4899891" cy="2276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latin typeface="Times New Roman" panose="02020603050405020304" pitchFamily="18" charset="0"/>
                <a:cs typeface="Times New Roman" panose="02020603050405020304" pitchFamily="18" charset="0"/>
              </a:rPr>
              <a:t>The heatmap reveals strong correlation between CO₂ ppm and climate impact per °C (r = 0.78), and high multicollinearity among CAP and coordinate features, which was later addressed using PCA.</a:t>
            </a: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3" name="Picture 2" descr="A screenshot of a math puzzle&#10;&#10;AI-generated content may be incorrect.">
            <a:extLst>
              <a:ext uri="{FF2B5EF4-FFF2-40B4-BE49-F238E27FC236}">
                <a16:creationId xmlns:a16="http://schemas.microsoft.com/office/drawing/2014/main" id="{40ED5503-BBF6-7FB4-D63D-632D008C9D6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16719" y="1820181"/>
            <a:ext cx="6494767" cy="4622648"/>
          </a:xfrm>
          <a:prstGeom prst="rect">
            <a:avLst/>
          </a:prstGeom>
        </p:spPr>
      </p:pic>
    </p:spTree>
    <p:extLst>
      <p:ext uri="{BB962C8B-B14F-4D97-AF65-F5344CB8AC3E}">
        <p14:creationId xmlns:p14="http://schemas.microsoft.com/office/powerpoint/2010/main" val="14355426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DAC76-9C6D-AE0E-46D8-9FAEC6621851}"/>
            </a:ext>
          </a:extLst>
        </p:cNvPr>
        <p:cNvGrpSpPr/>
        <p:nvPr/>
      </p:nvGrpSpPr>
      <p:grpSpPr>
        <a:xfrm>
          <a:off x="0" y="0"/>
          <a:ext cx="0" cy="0"/>
          <a:chOff x="0" y="0"/>
          <a:chExt cx="0" cy="0"/>
        </a:xfrm>
      </p:grpSpPr>
      <p:pic>
        <p:nvPicPr>
          <p:cNvPr id="8" name="Picture 7" descr="A green field with trees and a river&#10;&#10;AI-generated content may be incorrect.">
            <a:extLst>
              <a:ext uri="{FF2B5EF4-FFF2-40B4-BE49-F238E27FC236}">
                <a16:creationId xmlns:a16="http://schemas.microsoft.com/office/drawing/2014/main" id="{1C043925-332E-1E54-7906-E5F838AB1914}"/>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6467" b="16152"/>
          <a:stretch/>
        </p:blipFill>
        <p:spPr>
          <a:xfrm>
            <a:off x="20" y="2030"/>
            <a:ext cx="12191980" cy="6855970"/>
          </a:xfrm>
          <a:prstGeom prst="rect">
            <a:avLst/>
          </a:prstGeom>
        </p:spPr>
      </p:pic>
      <p:sp>
        <p:nvSpPr>
          <p:cNvPr id="5" name="Rectangle 2">
            <a:extLst>
              <a:ext uri="{FF2B5EF4-FFF2-40B4-BE49-F238E27FC236}">
                <a16:creationId xmlns:a16="http://schemas.microsoft.com/office/drawing/2014/main" id="{B9DDDBBB-FC73-E835-2662-A274622EE89E}"/>
              </a:ext>
            </a:extLst>
          </p:cNvPr>
          <p:cNvSpPr>
            <a:spLocks noGrp="1" noChangeArrowheads="1"/>
          </p:cNvSpPr>
          <p:nvPr>
            <p:ph idx="1"/>
          </p:nvPr>
        </p:nvSpPr>
        <p:spPr bwMode="auto">
          <a:xfrm>
            <a:off x="1234336" y="987741"/>
            <a:ext cx="9679849"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Missing values were handled using median imputation for numerical and mode for categorical data, achieving 100% completeness without distortion.</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Applied variance thresholding to remove 16 low-impact features and used PCA to retain 15 components (95% variance), reducing multicollinearity and improving model efficiency.</a:t>
            </a:r>
          </a:p>
        </p:txBody>
      </p:sp>
      <p:pic>
        <p:nvPicPr>
          <p:cNvPr id="7" name="Picture 6">
            <a:extLst>
              <a:ext uri="{FF2B5EF4-FFF2-40B4-BE49-F238E27FC236}">
                <a16:creationId xmlns:a16="http://schemas.microsoft.com/office/drawing/2014/main" id="{A1B1B0C1-737C-D607-BF9D-50D9FEE519BD}"/>
              </a:ext>
            </a:extLst>
          </p:cNvPr>
          <p:cNvPicPr>
            <a:picLocks noChangeAspect="1"/>
          </p:cNvPicPr>
          <p:nvPr/>
        </p:nvPicPr>
        <p:blipFill>
          <a:blip r:embed="rId3"/>
          <a:stretch>
            <a:fillRect/>
          </a:stretch>
        </p:blipFill>
        <p:spPr>
          <a:xfrm>
            <a:off x="1519460" y="4134609"/>
            <a:ext cx="7438109" cy="2301233"/>
          </a:xfrm>
          <a:prstGeom prst="rect">
            <a:avLst/>
          </a:prstGeom>
        </p:spPr>
      </p:pic>
    </p:spTree>
    <p:extLst>
      <p:ext uri="{BB962C8B-B14F-4D97-AF65-F5344CB8AC3E}">
        <p14:creationId xmlns:p14="http://schemas.microsoft.com/office/powerpoint/2010/main" val="9151169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FE8CA-A04A-A7E6-082C-D87BED18AD0E}"/>
            </a:ext>
          </a:extLst>
        </p:cNvPr>
        <p:cNvGrpSpPr/>
        <p:nvPr/>
      </p:nvGrpSpPr>
      <p:grpSpPr>
        <a:xfrm>
          <a:off x="0" y="0"/>
          <a:ext cx="0" cy="0"/>
          <a:chOff x="0" y="0"/>
          <a:chExt cx="0" cy="0"/>
        </a:xfrm>
      </p:grpSpPr>
      <p:pic>
        <p:nvPicPr>
          <p:cNvPr id="8" name="Picture 7" descr="A green field with trees and a river&#10;&#10;AI-generated content may be incorrect.">
            <a:extLst>
              <a:ext uri="{FF2B5EF4-FFF2-40B4-BE49-F238E27FC236}">
                <a16:creationId xmlns:a16="http://schemas.microsoft.com/office/drawing/2014/main" id="{6E8D598F-C264-8B94-FCDE-48FDFED5F325}"/>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6467" b="16152"/>
          <a:stretch/>
        </p:blipFill>
        <p:spPr>
          <a:xfrm>
            <a:off x="-5315" y="0"/>
            <a:ext cx="12191980" cy="6855970"/>
          </a:xfrm>
          <a:prstGeom prst="rect">
            <a:avLst/>
          </a:prstGeom>
        </p:spPr>
      </p:pic>
      <p:sp>
        <p:nvSpPr>
          <p:cNvPr id="2" name="Title 1">
            <a:extLst>
              <a:ext uri="{FF2B5EF4-FFF2-40B4-BE49-F238E27FC236}">
                <a16:creationId xmlns:a16="http://schemas.microsoft.com/office/drawing/2014/main" id="{545A4B83-9AF1-3DBF-982E-B15F271CF17E}"/>
              </a:ext>
            </a:extLst>
          </p:cNvPr>
          <p:cNvSpPr>
            <a:spLocks noGrp="1"/>
          </p:cNvSpPr>
          <p:nvPr>
            <p:ph type="title"/>
          </p:nvPr>
        </p:nvSpPr>
        <p:spPr>
          <a:xfrm>
            <a:off x="761395" y="196021"/>
            <a:ext cx="10353761" cy="1326321"/>
          </a:xfrm>
        </p:spPr>
        <p:txBody>
          <a:bodyPr>
            <a:normAutofit/>
          </a:bodyPr>
          <a:lstStyle/>
          <a:p>
            <a:r>
              <a:rPr lang="en-US" dirty="0">
                <a:latin typeface="Times New Roman" panose="02020603050405020304" pitchFamily="18" charset="0"/>
                <a:cs typeface="Times New Roman" panose="02020603050405020304" pitchFamily="18" charset="0"/>
              </a:rPr>
              <a:t>Exploratory Data Analysis</a:t>
            </a:r>
          </a:p>
        </p:txBody>
      </p:sp>
      <p:sp>
        <p:nvSpPr>
          <p:cNvPr id="4" name="Rectangle 1">
            <a:extLst>
              <a:ext uri="{FF2B5EF4-FFF2-40B4-BE49-F238E27FC236}">
                <a16:creationId xmlns:a16="http://schemas.microsoft.com/office/drawing/2014/main" id="{9DAB796E-6B2C-5FEF-4C08-C9AEB687AB6D}"/>
              </a:ext>
            </a:extLst>
          </p:cNvPr>
          <p:cNvSpPr>
            <a:spLocks noGrp="1" noChangeArrowheads="1"/>
          </p:cNvSpPr>
          <p:nvPr>
            <p:ph idx="1"/>
          </p:nvPr>
        </p:nvSpPr>
        <p:spPr bwMode="auto">
          <a:xfrm>
            <a:off x="993694" y="1718362"/>
            <a:ext cx="9481956" cy="2539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l">
              <a:lnSpc>
                <a:spcPts val="2143"/>
              </a:lnSpc>
              <a:spcBef>
                <a:spcPts val="1029"/>
              </a:spcBef>
              <a:spcAft>
                <a:spcPts val="1029"/>
              </a:spcAft>
              <a:buNone/>
            </a:pPr>
            <a:r>
              <a:rPr lang="en-US" b="1" i="0" dirty="0">
                <a:solidFill>
                  <a:srgbClr val="F8FAFF"/>
                </a:solidFill>
                <a:effectLst/>
                <a:latin typeface="Times New Roman" panose="02020603050405020304" pitchFamily="18" charset="0"/>
                <a:cs typeface="Times New Roman" panose="02020603050405020304" pitchFamily="18" charset="0"/>
              </a:rPr>
              <a:t>Regional Variability</a:t>
            </a:r>
            <a:r>
              <a:rPr lang="en-US" b="0" i="0" dirty="0">
                <a:solidFill>
                  <a:srgbClr val="F8FAFF"/>
                </a:solidFill>
                <a:effectLst/>
                <a:latin typeface="Times New Roman" panose="02020603050405020304" pitchFamily="18" charset="0"/>
                <a:cs typeface="Times New Roman" panose="02020603050405020304" pitchFamily="18" charset="0"/>
              </a:rPr>
              <a:t>: Europe shows moderate climate impacts (-5% to -10%), while Central/South America faces severe declines (-15% to -25%) for key crops like maize and wheat.</a:t>
            </a:r>
          </a:p>
          <a:p>
            <a:pPr marL="0" indent="0" algn="l">
              <a:lnSpc>
                <a:spcPts val="2143"/>
              </a:lnSpc>
              <a:spcBef>
                <a:spcPts val="300"/>
              </a:spcBef>
              <a:spcAft>
                <a:spcPts val="1029"/>
              </a:spcAft>
              <a:buNone/>
            </a:pPr>
            <a:r>
              <a:rPr lang="en-US" b="1" i="0" dirty="0">
                <a:solidFill>
                  <a:srgbClr val="F8FAFF"/>
                </a:solidFill>
                <a:effectLst/>
                <a:latin typeface="Times New Roman" panose="02020603050405020304" pitchFamily="18" charset="0"/>
                <a:cs typeface="Times New Roman" panose="02020603050405020304" pitchFamily="18" charset="0"/>
              </a:rPr>
              <a:t>Crop Resilience</a:t>
            </a:r>
            <a:r>
              <a:rPr lang="en-US" b="0" i="0" dirty="0">
                <a:solidFill>
                  <a:srgbClr val="F8FAFF"/>
                </a:solidFill>
                <a:effectLst/>
                <a:latin typeface="Times New Roman" panose="02020603050405020304" pitchFamily="18" charset="0"/>
                <a:cs typeface="Times New Roman" panose="02020603050405020304" pitchFamily="18" charset="0"/>
              </a:rPr>
              <a:t>: Soybean demonstrates lower vulnerability (-5% to -15%) compared to maize (-20% to -25%), highlighting its potential as a climate-adaptive alternative.</a:t>
            </a:r>
          </a:p>
          <a:p>
            <a:pPr marL="0" indent="0">
              <a:buNone/>
            </a:pPr>
            <a:endParaRPr 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C949471-70BA-602B-B971-7C21B998A224}"/>
              </a:ext>
            </a:extLst>
          </p:cNvPr>
          <p:cNvPicPr>
            <a:picLocks noChangeAspect="1"/>
          </p:cNvPicPr>
          <p:nvPr/>
        </p:nvPicPr>
        <p:blipFill>
          <a:blip r:embed="rId3"/>
          <a:stretch>
            <a:fillRect/>
          </a:stretch>
        </p:blipFill>
        <p:spPr>
          <a:xfrm>
            <a:off x="2006353" y="3429000"/>
            <a:ext cx="7421732" cy="3105350"/>
          </a:xfrm>
          <a:prstGeom prst="rect">
            <a:avLst/>
          </a:prstGeom>
        </p:spPr>
      </p:pic>
    </p:spTree>
    <p:extLst>
      <p:ext uri="{BB962C8B-B14F-4D97-AF65-F5344CB8AC3E}">
        <p14:creationId xmlns:p14="http://schemas.microsoft.com/office/powerpoint/2010/main" val="2286140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68C6A-1580-5500-EC81-06C174C1C351}"/>
            </a:ext>
          </a:extLst>
        </p:cNvPr>
        <p:cNvGrpSpPr/>
        <p:nvPr/>
      </p:nvGrpSpPr>
      <p:grpSpPr>
        <a:xfrm>
          <a:off x="0" y="0"/>
          <a:ext cx="0" cy="0"/>
          <a:chOff x="0" y="0"/>
          <a:chExt cx="0" cy="0"/>
        </a:xfrm>
      </p:grpSpPr>
      <p:pic>
        <p:nvPicPr>
          <p:cNvPr id="8" name="Picture 7" descr="A green field with trees and a river&#10;&#10;AI-generated content may be incorrect.">
            <a:extLst>
              <a:ext uri="{FF2B5EF4-FFF2-40B4-BE49-F238E27FC236}">
                <a16:creationId xmlns:a16="http://schemas.microsoft.com/office/drawing/2014/main" id="{F73FA989-C7FE-5874-EB4D-30DF6CA0211C}"/>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6467" b="16152"/>
          <a:stretch/>
        </p:blipFill>
        <p:spPr>
          <a:xfrm>
            <a:off x="-5315" y="0"/>
            <a:ext cx="12191980" cy="6855970"/>
          </a:xfrm>
          <a:prstGeom prst="rect">
            <a:avLst/>
          </a:prstGeom>
        </p:spPr>
      </p:pic>
      <p:sp>
        <p:nvSpPr>
          <p:cNvPr id="2" name="Title 1">
            <a:extLst>
              <a:ext uri="{FF2B5EF4-FFF2-40B4-BE49-F238E27FC236}">
                <a16:creationId xmlns:a16="http://schemas.microsoft.com/office/drawing/2014/main" id="{4B20F969-07AB-76F7-3F17-86322FDB2D92}"/>
              </a:ext>
            </a:extLst>
          </p:cNvPr>
          <p:cNvSpPr>
            <a:spLocks noGrp="1"/>
          </p:cNvSpPr>
          <p:nvPr>
            <p:ph type="title"/>
          </p:nvPr>
        </p:nvSpPr>
        <p:spPr>
          <a:xfrm>
            <a:off x="645083" y="174822"/>
            <a:ext cx="10353761" cy="1326321"/>
          </a:xfrm>
        </p:spPr>
        <p:txBody>
          <a:bodyPr>
            <a:normAutofit/>
          </a:bodyPr>
          <a:lstStyle/>
          <a:p>
            <a:r>
              <a:rPr lang="en-US" dirty="0">
                <a:latin typeface="Times New Roman" panose="02020603050405020304" pitchFamily="18" charset="0"/>
                <a:cs typeface="Times New Roman" panose="02020603050405020304" pitchFamily="18" charset="0"/>
              </a:rPr>
              <a:t>Exploratory Data Analysis</a:t>
            </a:r>
          </a:p>
        </p:txBody>
      </p:sp>
      <p:sp>
        <p:nvSpPr>
          <p:cNvPr id="4" name="Rectangle 1">
            <a:extLst>
              <a:ext uri="{FF2B5EF4-FFF2-40B4-BE49-F238E27FC236}">
                <a16:creationId xmlns:a16="http://schemas.microsoft.com/office/drawing/2014/main" id="{C9F04A36-CFC7-F9CD-861A-632C6F3A98AB}"/>
              </a:ext>
            </a:extLst>
          </p:cNvPr>
          <p:cNvSpPr>
            <a:spLocks noGrp="1" noChangeArrowheads="1"/>
          </p:cNvSpPr>
          <p:nvPr>
            <p:ph idx="1"/>
          </p:nvPr>
        </p:nvSpPr>
        <p:spPr bwMode="auto">
          <a:xfrm>
            <a:off x="993694" y="1675964"/>
            <a:ext cx="9481956" cy="1772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l">
              <a:lnSpc>
                <a:spcPts val="2143"/>
              </a:lnSpc>
              <a:spcBef>
                <a:spcPts val="1029"/>
              </a:spcBef>
              <a:spcAft>
                <a:spcPts val="1029"/>
              </a:spcAft>
              <a:buFont typeface="Arial" panose="020B0604020202020204" pitchFamily="34" charset="0"/>
              <a:buChar char="•"/>
            </a:pPr>
            <a:r>
              <a:rPr lang="en-US" b="1" i="0" dirty="0">
                <a:solidFill>
                  <a:srgbClr val="F8FAFF"/>
                </a:solidFill>
                <a:effectLst/>
                <a:latin typeface="Times New Roman" panose="02020603050405020304" pitchFamily="18" charset="0"/>
                <a:cs typeface="Times New Roman" panose="02020603050405020304" pitchFamily="18" charset="0"/>
              </a:rPr>
              <a:t>Regional Vulnerability</a:t>
            </a:r>
            <a:r>
              <a:rPr lang="en-US" b="0" i="0" dirty="0">
                <a:solidFill>
                  <a:srgbClr val="F8FAFF"/>
                </a:solidFill>
                <a:effectLst/>
                <a:latin typeface="Times New Roman" panose="02020603050405020304" pitchFamily="18" charset="0"/>
                <a:cs typeface="Times New Roman" panose="02020603050405020304" pitchFamily="18" charset="0"/>
              </a:rPr>
              <a:t>: Central/South America shows the highest climate impacts (15-25% yield reduction), with wheat being the most affected crop.</a:t>
            </a:r>
          </a:p>
          <a:p>
            <a:pPr algn="l">
              <a:lnSpc>
                <a:spcPts val="2143"/>
              </a:lnSpc>
              <a:spcBef>
                <a:spcPts val="300"/>
              </a:spcBef>
              <a:spcAft>
                <a:spcPts val="1029"/>
              </a:spcAft>
              <a:buFont typeface="Arial" panose="020B0604020202020204" pitchFamily="34" charset="0"/>
              <a:buChar char="•"/>
            </a:pPr>
            <a:r>
              <a:rPr lang="en-US" b="1" i="0" dirty="0">
                <a:solidFill>
                  <a:srgbClr val="F8FAFF"/>
                </a:solidFill>
                <a:effectLst/>
                <a:latin typeface="Times New Roman" panose="02020603050405020304" pitchFamily="18" charset="0"/>
                <a:cs typeface="Times New Roman" panose="02020603050405020304" pitchFamily="18" charset="0"/>
              </a:rPr>
              <a:t>Resilient Crops</a:t>
            </a:r>
            <a:r>
              <a:rPr lang="en-US" b="0" i="0" dirty="0">
                <a:solidFill>
                  <a:srgbClr val="F8FAFF"/>
                </a:solidFill>
                <a:effectLst/>
                <a:latin typeface="Times New Roman" panose="02020603050405020304" pitchFamily="18" charset="0"/>
                <a:cs typeface="Times New Roman" panose="02020603050405020304" pitchFamily="18" charset="0"/>
              </a:rPr>
              <a:t>: Soybean demonstrates lower sensitivity (5-15% impact) compared to wheat and rice, making it a viable adaptation option.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7BD4D09E-4C19-DBFB-8F8E-E2108F030371}"/>
              </a:ext>
            </a:extLst>
          </p:cNvPr>
          <p:cNvPicPr>
            <a:picLocks noChangeAspect="1"/>
          </p:cNvPicPr>
          <p:nvPr/>
        </p:nvPicPr>
        <p:blipFill>
          <a:blip r:embed="rId3"/>
          <a:stretch>
            <a:fillRect/>
          </a:stretch>
        </p:blipFill>
        <p:spPr>
          <a:xfrm>
            <a:off x="1627574" y="3188287"/>
            <a:ext cx="8388781" cy="3141491"/>
          </a:xfrm>
          <a:prstGeom prst="rect">
            <a:avLst/>
          </a:prstGeom>
        </p:spPr>
      </p:pic>
    </p:spTree>
    <p:extLst>
      <p:ext uri="{BB962C8B-B14F-4D97-AF65-F5344CB8AC3E}">
        <p14:creationId xmlns:p14="http://schemas.microsoft.com/office/powerpoint/2010/main" val="3199324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D7450-FA89-5DFE-CE04-C34E0415F2CA}"/>
            </a:ext>
          </a:extLst>
        </p:cNvPr>
        <p:cNvGrpSpPr/>
        <p:nvPr/>
      </p:nvGrpSpPr>
      <p:grpSpPr>
        <a:xfrm>
          <a:off x="0" y="0"/>
          <a:ext cx="0" cy="0"/>
          <a:chOff x="0" y="0"/>
          <a:chExt cx="0" cy="0"/>
        </a:xfrm>
      </p:grpSpPr>
      <p:pic>
        <p:nvPicPr>
          <p:cNvPr id="8" name="Picture 7" descr="A green field with trees and a river&#10;&#10;AI-generated content may be incorrect.">
            <a:extLst>
              <a:ext uri="{FF2B5EF4-FFF2-40B4-BE49-F238E27FC236}">
                <a16:creationId xmlns:a16="http://schemas.microsoft.com/office/drawing/2014/main" id="{8E2D6050-FAC4-E8D4-FFA6-98D3602871B3}"/>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6467" b="16152"/>
          <a:stretch/>
        </p:blipFill>
        <p:spPr>
          <a:xfrm>
            <a:off x="-5315" y="0"/>
            <a:ext cx="12191980" cy="6855970"/>
          </a:xfrm>
          <a:prstGeom prst="rect">
            <a:avLst/>
          </a:prstGeom>
        </p:spPr>
      </p:pic>
      <p:sp>
        <p:nvSpPr>
          <p:cNvPr id="2" name="Title 1">
            <a:extLst>
              <a:ext uri="{FF2B5EF4-FFF2-40B4-BE49-F238E27FC236}">
                <a16:creationId xmlns:a16="http://schemas.microsoft.com/office/drawing/2014/main" id="{CB6E0E06-9A6C-EFE9-E39F-CF1F50B5B3BF}"/>
              </a:ext>
            </a:extLst>
          </p:cNvPr>
          <p:cNvSpPr>
            <a:spLocks noGrp="1"/>
          </p:cNvSpPr>
          <p:nvPr>
            <p:ph type="title"/>
          </p:nvPr>
        </p:nvSpPr>
        <p:spPr>
          <a:xfrm>
            <a:off x="913795" y="609600"/>
            <a:ext cx="10353761" cy="1326321"/>
          </a:xfrm>
        </p:spPr>
        <p:txBody>
          <a:bodyPr>
            <a:normAutofit/>
          </a:bodyPr>
          <a:lstStyle/>
          <a:p>
            <a:r>
              <a:rPr lang="en-US" dirty="0">
                <a:latin typeface="Times New Roman" panose="02020603050405020304" pitchFamily="18" charset="0"/>
                <a:cs typeface="Times New Roman" panose="02020603050405020304" pitchFamily="18" charset="0"/>
              </a:rPr>
              <a:t>Exploratory Data Analysis</a:t>
            </a:r>
          </a:p>
        </p:txBody>
      </p:sp>
      <p:sp>
        <p:nvSpPr>
          <p:cNvPr id="4" name="Rectangle 1">
            <a:extLst>
              <a:ext uri="{FF2B5EF4-FFF2-40B4-BE49-F238E27FC236}">
                <a16:creationId xmlns:a16="http://schemas.microsoft.com/office/drawing/2014/main" id="{EA7E660C-285E-4F9F-0606-8B971F800BE5}"/>
              </a:ext>
            </a:extLst>
          </p:cNvPr>
          <p:cNvSpPr>
            <a:spLocks noGrp="1" noChangeArrowheads="1"/>
          </p:cNvSpPr>
          <p:nvPr>
            <p:ph idx="1"/>
          </p:nvPr>
        </p:nvSpPr>
        <p:spPr bwMode="auto">
          <a:xfrm>
            <a:off x="485277" y="1837562"/>
            <a:ext cx="3578306" cy="47228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l">
              <a:lnSpc>
                <a:spcPts val="2143"/>
              </a:lnSpc>
              <a:spcBef>
                <a:spcPts val="1029"/>
              </a:spcBef>
              <a:spcAft>
                <a:spcPts val="1029"/>
              </a:spcAft>
              <a:buFont typeface="Arial" panose="020B0604020202020204" pitchFamily="34" charset="0"/>
              <a:buChar char="•"/>
            </a:pPr>
            <a:r>
              <a:rPr lang="en-US" b="1" i="0" dirty="0">
                <a:solidFill>
                  <a:srgbClr val="F8FAFF"/>
                </a:solidFill>
                <a:effectLst/>
                <a:latin typeface="Times New Roman" panose="02020603050405020304" pitchFamily="18" charset="0"/>
                <a:cs typeface="Times New Roman" panose="02020603050405020304" pitchFamily="18" charset="0"/>
              </a:rPr>
              <a:t>CO₂ Impact Variance</a:t>
            </a:r>
            <a:r>
              <a:rPr lang="en-US" b="0" i="0" dirty="0">
                <a:solidFill>
                  <a:srgbClr val="F8FAFF"/>
                </a:solidFill>
                <a:effectLst/>
                <a:latin typeface="Times New Roman" panose="02020603050405020304" pitchFamily="18" charset="0"/>
                <a:cs typeface="Times New Roman" panose="02020603050405020304" pitchFamily="18" charset="0"/>
              </a:rPr>
              <a:t>: Wheat and soybean show improved yields (0% to -50% impact) at 400-600 ppm CO₂, while maize and rice face significant declines (-50% to -100%) beyond 500 ppm.</a:t>
            </a:r>
          </a:p>
          <a:p>
            <a:pPr algn="l">
              <a:lnSpc>
                <a:spcPts val="2143"/>
              </a:lnSpc>
              <a:spcBef>
                <a:spcPts val="300"/>
              </a:spcBef>
              <a:spcAft>
                <a:spcPts val="1029"/>
              </a:spcAft>
              <a:buFont typeface="Arial" panose="020B0604020202020204" pitchFamily="34" charset="0"/>
              <a:buChar char="•"/>
            </a:pPr>
            <a:r>
              <a:rPr lang="en-US" b="1" i="0" dirty="0">
                <a:solidFill>
                  <a:srgbClr val="F8FAFF"/>
                </a:solidFill>
                <a:effectLst/>
                <a:latin typeface="Times New Roman" panose="02020603050405020304" pitchFamily="18" charset="0"/>
                <a:cs typeface="Times New Roman" panose="02020603050405020304" pitchFamily="18" charset="0"/>
              </a:rPr>
              <a:t>Crop-Specific Thresholds</a:t>
            </a:r>
            <a:r>
              <a:rPr lang="en-US" b="0" i="0" dirty="0">
                <a:solidFill>
                  <a:srgbClr val="F8FAFF"/>
                </a:solidFill>
                <a:effectLst/>
                <a:latin typeface="Times New Roman" panose="02020603050405020304" pitchFamily="18" charset="0"/>
                <a:cs typeface="Times New Roman" panose="02020603050405020304" pitchFamily="18" charset="0"/>
              </a:rPr>
              <a:t>: Soybean demonstrates resilience across wider CO₂ ranges (400-800 ppm), making it a more adaptable choice for climate-variable regions.</a:t>
            </a:r>
          </a:p>
          <a:p>
            <a:pPr>
              <a:buNone/>
            </a:pPr>
            <a:br>
              <a:rPr lang="en-US" dirty="0">
                <a:latin typeface="Times New Roman" panose="02020603050405020304" pitchFamily="18" charset="0"/>
                <a:cs typeface="Times New Roman" panose="02020603050405020304" pitchFamily="18" charset="0"/>
              </a:rPr>
            </a:b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FF93110-6D95-AC3B-1ED8-2FEA51A06425}"/>
              </a:ext>
            </a:extLst>
          </p:cNvPr>
          <p:cNvPicPr>
            <a:picLocks noChangeAspect="1"/>
          </p:cNvPicPr>
          <p:nvPr/>
        </p:nvPicPr>
        <p:blipFill>
          <a:blip r:embed="rId3"/>
          <a:stretch>
            <a:fillRect/>
          </a:stretch>
        </p:blipFill>
        <p:spPr>
          <a:xfrm>
            <a:off x="4982692" y="2175618"/>
            <a:ext cx="6793281" cy="3532724"/>
          </a:xfrm>
          <a:prstGeom prst="rect">
            <a:avLst/>
          </a:prstGeom>
        </p:spPr>
      </p:pic>
    </p:spTree>
    <p:extLst>
      <p:ext uri="{BB962C8B-B14F-4D97-AF65-F5344CB8AC3E}">
        <p14:creationId xmlns:p14="http://schemas.microsoft.com/office/powerpoint/2010/main" val="395747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4BD50-A71C-9565-9BBC-633CE236B7F0}"/>
            </a:ext>
          </a:extLst>
        </p:cNvPr>
        <p:cNvGrpSpPr/>
        <p:nvPr/>
      </p:nvGrpSpPr>
      <p:grpSpPr>
        <a:xfrm>
          <a:off x="0" y="0"/>
          <a:ext cx="0" cy="0"/>
          <a:chOff x="0" y="0"/>
          <a:chExt cx="0" cy="0"/>
        </a:xfrm>
      </p:grpSpPr>
      <p:pic>
        <p:nvPicPr>
          <p:cNvPr id="8" name="Picture 7" descr="A green field with trees and a river&#10;&#10;AI-generated content may be incorrect.">
            <a:extLst>
              <a:ext uri="{FF2B5EF4-FFF2-40B4-BE49-F238E27FC236}">
                <a16:creationId xmlns:a16="http://schemas.microsoft.com/office/drawing/2014/main" id="{A0A05A61-4472-4529-582B-C736529C5931}"/>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6467" b="16152"/>
          <a:stretch/>
        </p:blipFill>
        <p:spPr>
          <a:xfrm>
            <a:off x="-5315" y="0"/>
            <a:ext cx="12191980" cy="6855970"/>
          </a:xfrm>
          <a:prstGeom prst="rect">
            <a:avLst/>
          </a:prstGeom>
        </p:spPr>
      </p:pic>
      <p:sp>
        <p:nvSpPr>
          <p:cNvPr id="2" name="Title 1">
            <a:extLst>
              <a:ext uri="{FF2B5EF4-FFF2-40B4-BE49-F238E27FC236}">
                <a16:creationId xmlns:a16="http://schemas.microsoft.com/office/drawing/2014/main" id="{FCB0A6E8-7CD8-805C-E1FC-DDDE1D2BA81B}"/>
              </a:ext>
            </a:extLst>
          </p:cNvPr>
          <p:cNvSpPr>
            <a:spLocks noGrp="1"/>
          </p:cNvSpPr>
          <p:nvPr>
            <p:ph type="title"/>
          </p:nvPr>
        </p:nvSpPr>
        <p:spPr>
          <a:xfrm>
            <a:off x="913795" y="609600"/>
            <a:ext cx="10353761" cy="1326321"/>
          </a:xfrm>
        </p:spPr>
        <p:txBody>
          <a:bodyPr>
            <a:normAutofit/>
          </a:bodyPr>
          <a:lstStyle/>
          <a:p>
            <a:r>
              <a:rPr lang="en-US" dirty="0">
                <a:latin typeface="Times New Roman" panose="02020603050405020304" pitchFamily="18" charset="0"/>
                <a:cs typeface="Times New Roman" panose="02020603050405020304" pitchFamily="18" charset="0"/>
              </a:rPr>
              <a:t>Exploratory Data Analysis</a:t>
            </a:r>
          </a:p>
        </p:txBody>
      </p:sp>
      <p:sp>
        <p:nvSpPr>
          <p:cNvPr id="4" name="Rectangle 1">
            <a:extLst>
              <a:ext uri="{FF2B5EF4-FFF2-40B4-BE49-F238E27FC236}">
                <a16:creationId xmlns:a16="http://schemas.microsoft.com/office/drawing/2014/main" id="{2B444FA9-E0B2-25D8-FCC8-5973435D0337}"/>
              </a:ext>
            </a:extLst>
          </p:cNvPr>
          <p:cNvSpPr>
            <a:spLocks noGrp="1" noChangeArrowheads="1"/>
          </p:cNvSpPr>
          <p:nvPr>
            <p:ph idx="1"/>
          </p:nvPr>
        </p:nvSpPr>
        <p:spPr bwMode="auto">
          <a:xfrm>
            <a:off x="727608" y="2050742"/>
            <a:ext cx="3578306" cy="4084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l">
              <a:lnSpc>
                <a:spcPts val="2143"/>
              </a:lnSpc>
              <a:spcBef>
                <a:spcPts val="1029"/>
              </a:spcBef>
              <a:spcAft>
                <a:spcPts val="1029"/>
              </a:spcAft>
              <a:buFont typeface="Arial" panose="020B0604020202020204" pitchFamily="34" charset="0"/>
              <a:buChar char="•"/>
            </a:pPr>
            <a:r>
              <a:rPr lang="en-US" b="1" i="0" dirty="0">
                <a:solidFill>
                  <a:srgbClr val="F8FAFF"/>
                </a:solidFill>
                <a:effectLst/>
                <a:latin typeface="Times New Roman" panose="02020603050405020304" pitchFamily="18" charset="0"/>
                <a:cs typeface="Times New Roman" panose="02020603050405020304" pitchFamily="18" charset="0"/>
              </a:rPr>
              <a:t>Time-Exposure Risk</a:t>
            </a:r>
            <a:r>
              <a:rPr lang="en-US" b="0" i="0" dirty="0">
                <a:solidFill>
                  <a:srgbClr val="F8FAFF"/>
                </a:solidFill>
                <a:effectLst/>
                <a:latin typeface="Times New Roman" panose="02020603050405020304" pitchFamily="18" charset="0"/>
                <a:cs typeface="Times New Roman" panose="02020603050405020304" pitchFamily="18" charset="0"/>
              </a:rPr>
              <a:t>: Crops exposed to prolonged high climate stress (HCI) show severe yield declines, with impacts worsening beyond -50% after extended exposure periods.</a:t>
            </a:r>
          </a:p>
          <a:p>
            <a:pPr algn="l">
              <a:lnSpc>
                <a:spcPts val="2143"/>
              </a:lnSpc>
              <a:spcBef>
                <a:spcPts val="300"/>
              </a:spcBef>
              <a:spcAft>
                <a:spcPts val="1029"/>
              </a:spcAft>
              <a:buFont typeface="Arial" panose="020B0604020202020204" pitchFamily="34" charset="0"/>
              <a:buChar char="•"/>
            </a:pPr>
            <a:r>
              <a:rPr lang="en-US" b="1" i="0" dirty="0">
                <a:solidFill>
                  <a:srgbClr val="F8FAFF"/>
                </a:solidFill>
                <a:effectLst/>
                <a:latin typeface="Times New Roman" panose="02020603050405020304" pitchFamily="18" charset="0"/>
                <a:cs typeface="Times New Roman" panose="02020603050405020304" pitchFamily="18" charset="0"/>
              </a:rPr>
              <a:t>Threshold Effect</a:t>
            </a:r>
            <a:r>
              <a:rPr lang="en-US" b="0" i="0" dirty="0">
                <a:solidFill>
                  <a:srgbClr val="F8FAFF"/>
                </a:solidFill>
                <a:effectLst/>
                <a:latin typeface="Times New Roman" panose="02020603050405020304" pitchFamily="18" charset="0"/>
                <a:cs typeface="Times New Roman" panose="02020603050405020304" pitchFamily="18" charset="0"/>
              </a:rPr>
              <a:t>: Most crops maintain stable yields below 90 HCI hours, but impacts accelerate dramatically past this critical threshold.</a:t>
            </a:r>
          </a:p>
          <a:p>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6" name="Picture 5" descr="A screenshot of a computer screen&#10;&#10;AI-generated content may be incorrect.">
            <a:extLst>
              <a:ext uri="{FF2B5EF4-FFF2-40B4-BE49-F238E27FC236}">
                <a16:creationId xmlns:a16="http://schemas.microsoft.com/office/drawing/2014/main" id="{89865C17-06E5-DC79-504A-39D8DF5B0E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38837" y="2050742"/>
            <a:ext cx="6798055" cy="3622089"/>
          </a:xfrm>
          <a:prstGeom prst="rect">
            <a:avLst/>
          </a:prstGeom>
        </p:spPr>
      </p:pic>
    </p:spTree>
    <p:extLst>
      <p:ext uri="{BB962C8B-B14F-4D97-AF65-F5344CB8AC3E}">
        <p14:creationId xmlns:p14="http://schemas.microsoft.com/office/powerpoint/2010/main" val="11568979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E3A5C-B084-017E-7375-DD77399546AE}"/>
            </a:ext>
          </a:extLst>
        </p:cNvPr>
        <p:cNvGrpSpPr/>
        <p:nvPr/>
      </p:nvGrpSpPr>
      <p:grpSpPr>
        <a:xfrm>
          <a:off x="0" y="0"/>
          <a:ext cx="0" cy="0"/>
          <a:chOff x="0" y="0"/>
          <a:chExt cx="0" cy="0"/>
        </a:xfrm>
      </p:grpSpPr>
      <p:pic>
        <p:nvPicPr>
          <p:cNvPr id="8" name="Picture 7" descr="A green field with trees and a river&#10;&#10;AI-generated content may be incorrect.">
            <a:extLst>
              <a:ext uri="{FF2B5EF4-FFF2-40B4-BE49-F238E27FC236}">
                <a16:creationId xmlns:a16="http://schemas.microsoft.com/office/drawing/2014/main" id="{179B6C9F-2D7D-3482-B79D-3074B413AFFD}"/>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6467" b="16152"/>
          <a:stretch/>
        </p:blipFill>
        <p:spPr>
          <a:xfrm>
            <a:off x="-5315" y="0"/>
            <a:ext cx="12191980" cy="6855970"/>
          </a:xfrm>
          <a:prstGeom prst="rect">
            <a:avLst/>
          </a:prstGeom>
        </p:spPr>
      </p:pic>
      <p:sp>
        <p:nvSpPr>
          <p:cNvPr id="2" name="Title 1">
            <a:extLst>
              <a:ext uri="{FF2B5EF4-FFF2-40B4-BE49-F238E27FC236}">
                <a16:creationId xmlns:a16="http://schemas.microsoft.com/office/drawing/2014/main" id="{F827258A-C795-8A80-4379-8E07D19ACC93}"/>
              </a:ext>
            </a:extLst>
          </p:cNvPr>
          <p:cNvSpPr>
            <a:spLocks noGrp="1"/>
          </p:cNvSpPr>
          <p:nvPr>
            <p:ph type="title"/>
          </p:nvPr>
        </p:nvSpPr>
        <p:spPr>
          <a:xfrm>
            <a:off x="538657" y="216308"/>
            <a:ext cx="10353761" cy="1326321"/>
          </a:xfrm>
        </p:spPr>
        <p:txBody>
          <a:bodyPr>
            <a:normAutofit/>
          </a:bodyPr>
          <a:lstStyle/>
          <a:p>
            <a:r>
              <a:rPr lang="en-US" dirty="0">
                <a:latin typeface="Times New Roman" panose="02020603050405020304" pitchFamily="18" charset="0"/>
                <a:cs typeface="Times New Roman" panose="02020603050405020304" pitchFamily="18" charset="0"/>
              </a:rPr>
              <a:t>Exploratory Data Analysis</a:t>
            </a:r>
          </a:p>
        </p:txBody>
      </p:sp>
      <p:sp>
        <p:nvSpPr>
          <p:cNvPr id="4" name="Rectangle 1">
            <a:extLst>
              <a:ext uri="{FF2B5EF4-FFF2-40B4-BE49-F238E27FC236}">
                <a16:creationId xmlns:a16="http://schemas.microsoft.com/office/drawing/2014/main" id="{67F139D1-F4E1-F382-0942-CB0EFC2EB271}"/>
              </a:ext>
            </a:extLst>
          </p:cNvPr>
          <p:cNvSpPr>
            <a:spLocks noGrp="1" noChangeArrowheads="1"/>
          </p:cNvSpPr>
          <p:nvPr>
            <p:ph idx="1"/>
          </p:nvPr>
        </p:nvSpPr>
        <p:spPr bwMode="auto">
          <a:xfrm>
            <a:off x="623208" y="1369887"/>
            <a:ext cx="3578306" cy="51424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l">
              <a:spcBef>
                <a:spcPts val="1372"/>
              </a:spcBef>
              <a:spcAft>
                <a:spcPts val="1029"/>
              </a:spcAft>
              <a:buNone/>
            </a:pPr>
            <a:r>
              <a:rPr lang="en-US" b="1" i="0" dirty="0">
                <a:solidFill>
                  <a:srgbClr val="F8FAFF"/>
                </a:solidFill>
                <a:effectLst/>
                <a:latin typeface="Times New Roman" panose="02020603050405020304" pitchFamily="18" charset="0"/>
                <a:cs typeface="Times New Roman" panose="02020603050405020304" pitchFamily="18" charset="0"/>
              </a:rPr>
              <a:t>Wheat Yield Response to CO₂</a:t>
            </a:r>
            <a:endParaRPr lang="en-US" b="0" i="0" dirty="0">
              <a:solidFill>
                <a:srgbClr val="F8FAFF"/>
              </a:solidFill>
              <a:effectLst/>
              <a:latin typeface="Times New Roman" panose="02020603050405020304" pitchFamily="18" charset="0"/>
              <a:cs typeface="Times New Roman" panose="02020603050405020304" pitchFamily="18" charset="0"/>
            </a:endParaRPr>
          </a:p>
          <a:p>
            <a:pPr marL="0" indent="0" algn="l">
              <a:lnSpc>
                <a:spcPts val="2143"/>
              </a:lnSpc>
              <a:spcBef>
                <a:spcPts val="1029"/>
              </a:spcBef>
              <a:spcAft>
                <a:spcPts val="300"/>
              </a:spcAft>
              <a:buNone/>
            </a:pPr>
            <a:r>
              <a:rPr lang="en-US" b="1" i="0" dirty="0">
                <a:solidFill>
                  <a:srgbClr val="F8FAFF"/>
                </a:solidFill>
                <a:effectLst/>
                <a:latin typeface="Times New Roman" panose="02020603050405020304" pitchFamily="18" charset="0"/>
                <a:cs typeface="Times New Roman" panose="02020603050405020304" pitchFamily="18" charset="0"/>
              </a:rPr>
              <a:t>Regional Variation</a:t>
            </a:r>
            <a:r>
              <a:rPr lang="en-US" b="0" i="0" dirty="0">
                <a:solidFill>
                  <a:srgbClr val="F8FAFF"/>
                </a:solidFill>
                <a:effectLst/>
                <a:latin typeface="Times New Roman" panose="02020603050405020304" pitchFamily="18" charset="0"/>
                <a:cs typeface="Times New Roman" panose="02020603050405020304" pitchFamily="18" charset="0"/>
              </a:rPr>
              <a:t>:</a:t>
            </a:r>
          </a:p>
          <a:p>
            <a:pPr marL="742950" lvl="1" indent="-285750" algn="l">
              <a:lnSpc>
                <a:spcPts val="2143"/>
              </a:lnSpc>
              <a:spcBef>
                <a:spcPts val="300"/>
              </a:spcBef>
              <a:spcAft>
                <a:spcPts val="1029"/>
              </a:spcAft>
              <a:buFont typeface="Arial" panose="020B0604020202020204" pitchFamily="34" charset="0"/>
              <a:buChar char="•"/>
            </a:pPr>
            <a:r>
              <a:rPr lang="en-US" b="0" i="0" dirty="0">
                <a:solidFill>
                  <a:srgbClr val="F8FAFF"/>
                </a:solidFill>
                <a:effectLst/>
                <a:latin typeface="Times New Roman" panose="02020603050405020304" pitchFamily="18" charset="0"/>
                <a:cs typeface="Times New Roman" panose="02020603050405020304" pitchFamily="18" charset="0"/>
              </a:rPr>
              <a:t>Europe shows </a:t>
            </a:r>
            <a:r>
              <a:rPr lang="en-US" b="1" i="0" dirty="0">
                <a:solidFill>
                  <a:srgbClr val="F8FAFF"/>
                </a:solidFill>
                <a:effectLst/>
                <a:latin typeface="Times New Roman" panose="02020603050405020304" pitchFamily="18" charset="0"/>
                <a:cs typeface="Times New Roman" panose="02020603050405020304" pitchFamily="18" charset="0"/>
              </a:rPr>
              <a:t>peak yields at 520-550 ppm CO₂</a:t>
            </a:r>
            <a:r>
              <a:rPr lang="en-US" b="0" i="0" dirty="0">
                <a:solidFill>
                  <a:srgbClr val="F8FAFF"/>
                </a:solidFill>
                <a:effectLst/>
                <a:latin typeface="Times New Roman" panose="02020603050405020304" pitchFamily="18" charset="0"/>
                <a:cs typeface="Times New Roman" panose="02020603050405020304" pitchFamily="18" charset="0"/>
              </a:rPr>
              <a:t> (+15-20% boost)</a:t>
            </a:r>
          </a:p>
          <a:p>
            <a:pPr marL="742950" lvl="1" indent="-285750" algn="l">
              <a:lnSpc>
                <a:spcPts val="2143"/>
              </a:lnSpc>
              <a:spcBef>
                <a:spcPts val="300"/>
              </a:spcBef>
              <a:spcAft>
                <a:spcPts val="1029"/>
              </a:spcAft>
              <a:buFont typeface="Arial" panose="020B0604020202020204" pitchFamily="34" charset="0"/>
              <a:buChar char="•"/>
            </a:pPr>
            <a:r>
              <a:rPr lang="en-US" b="0" i="0" dirty="0">
                <a:solidFill>
                  <a:srgbClr val="F8FAFF"/>
                </a:solidFill>
                <a:effectLst/>
                <a:latin typeface="Times New Roman" panose="02020603050405020304" pitchFamily="18" charset="0"/>
                <a:cs typeface="Times New Roman" panose="02020603050405020304" pitchFamily="18" charset="0"/>
              </a:rPr>
              <a:t>Africa/Asia experience </a:t>
            </a:r>
            <a:r>
              <a:rPr lang="en-US" b="1" i="0" dirty="0">
                <a:solidFill>
                  <a:srgbClr val="F8FAFF"/>
                </a:solidFill>
                <a:effectLst/>
                <a:latin typeface="Times New Roman" panose="02020603050405020304" pitchFamily="18" charset="0"/>
                <a:cs typeface="Times New Roman" panose="02020603050405020304" pitchFamily="18" charset="0"/>
              </a:rPr>
              <a:t>yield declines above 500 ppm</a:t>
            </a:r>
            <a:r>
              <a:rPr lang="en-US" b="0" i="0" dirty="0">
                <a:solidFill>
                  <a:srgbClr val="F8FAFF"/>
                </a:solidFill>
                <a:effectLst/>
                <a:latin typeface="Times New Roman" panose="02020603050405020304" pitchFamily="18" charset="0"/>
                <a:cs typeface="Times New Roman" panose="02020603050405020304" pitchFamily="18" charset="0"/>
              </a:rPr>
              <a:t> due to combined heat stress</a:t>
            </a:r>
          </a:p>
          <a:p>
            <a:pPr marL="0" indent="0" algn="l">
              <a:lnSpc>
                <a:spcPts val="2143"/>
              </a:lnSpc>
              <a:spcBef>
                <a:spcPts val="300"/>
              </a:spcBef>
              <a:spcAft>
                <a:spcPts val="300"/>
              </a:spcAft>
              <a:buNone/>
            </a:pPr>
            <a:r>
              <a:rPr lang="en-US" b="1" i="0" dirty="0">
                <a:solidFill>
                  <a:srgbClr val="F8FAFF"/>
                </a:solidFill>
                <a:effectLst/>
                <a:latin typeface="Times New Roman" panose="02020603050405020304" pitchFamily="18" charset="0"/>
                <a:cs typeface="Times New Roman" panose="02020603050405020304" pitchFamily="18" charset="0"/>
              </a:rPr>
              <a:t>Optimal Ranges</a:t>
            </a:r>
            <a:r>
              <a:rPr lang="en-US" b="0" i="0" dirty="0">
                <a:solidFill>
                  <a:srgbClr val="F8FAFF"/>
                </a:solidFill>
                <a:effectLst/>
                <a:latin typeface="Times New Roman" panose="02020603050405020304" pitchFamily="18" charset="0"/>
                <a:cs typeface="Times New Roman" panose="02020603050405020304" pitchFamily="18" charset="0"/>
              </a:rPr>
              <a:t>:</a:t>
            </a:r>
          </a:p>
          <a:p>
            <a:pPr marL="742950" lvl="1" indent="-285750" algn="l">
              <a:lnSpc>
                <a:spcPts val="2143"/>
              </a:lnSpc>
              <a:spcBef>
                <a:spcPts val="300"/>
              </a:spcBef>
              <a:spcAft>
                <a:spcPts val="1029"/>
              </a:spcAft>
              <a:buFont typeface="Arial" panose="020B0604020202020204" pitchFamily="34" charset="0"/>
              <a:buChar char="•"/>
            </a:pPr>
            <a:r>
              <a:rPr lang="en-US" b="1" i="0" dirty="0">
                <a:solidFill>
                  <a:srgbClr val="F8FAFF"/>
                </a:solidFill>
                <a:effectLst/>
                <a:latin typeface="Times New Roman" panose="02020603050405020304" pitchFamily="18" charset="0"/>
                <a:cs typeface="Times New Roman" panose="02020603050405020304" pitchFamily="18" charset="0"/>
              </a:rPr>
              <a:t>North America</a:t>
            </a:r>
            <a:r>
              <a:rPr lang="en-US" b="0" i="0" dirty="0">
                <a:solidFill>
                  <a:srgbClr val="F8FAFF"/>
                </a:solidFill>
                <a:effectLst/>
                <a:latin typeface="Times New Roman" panose="02020603050405020304" pitchFamily="18" charset="0"/>
                <a:cs typeface="Times New Roman" panose="02020603050405020304" pitchFamily="18" charset="0"/>
              </a:rPr>
              <a:t>: 500-530 ppm (consistent +10% yield)</a:t>
            </a:r>
          </a:p>
          <a:p>
            <a:pPr marL="742950" lvl="1" indent="-285750" algn="l">
              <a:lnSpc>
                <a:spcPts val="2143"/>
              </a:lnSpc>
              <a:spcBef>
                <a:spcPts val="300"/>
              </a:spcBef>
              <a:spcAft>
                <a:spcPts val="1029"/>
              </a:spcAft>
              <a:buFont typeface="Arial" panose="020B0604020202020204" pitchFamily="34" charset="0"/>
              <a:buChar char="•"/>
            </a:pPr>
            <a:r>
              <a:rPr lang="en-US" b="1" i="0" dirty="0">
                <a:solidFill>
                  <a:srgbClr val="F8FAFF"/>
                </a:solidFill>
                <a:effectLst/>
                <a:latin typeface="Times New Roman" panose="02020603050405020304" pitchFamily="18" charset="0"/>
                <a:cs typeface="Times New Roman" panose="02020603050405020304" pitchFamily="18" charset="0"/>
              </a:rPr>
              <a:t>Central/South America</a:t>
            </a:r>
            <a:r>
              <a:rPr lang="en-US" b="0" i="0" dirty="0">
                <a:solidFill>
                  <a:srgbClr val="F8FAFF"/>
                </a:solidFill>
                <a:effectLst/>
                <a:latin typeface="Times New Roman" panose="02020603050405020304" pitchFamily="18" charset="0"/>
                <a:cs typeface="Times New Roman" panose="02020603050405020304" pitchFamily="18" charset="0"/>
              </a:rPr>
              <a:t>: Narrow window (480-510 ppm) before sharp declines</a:t>
            </a:r>
          </a:p>
        </p:txBody>
      </p:sp>
      <p:pic>
        <p:nvPicPr>
          <p:cNvPr id="5" name="Picture 4">
            <a:extLst>
              <a:ext uri="{FF2B5EF4-FFF2-40B4-BE49-F238E27FC236}">
                <a16:creationId xmlns:a16="http://schemas.microsoft.com/office/drawing/2014/main" id="{7F8C6F92-FA3B-8916-7CC9-7481022A5802}"/>
              </a:ext>
            </a:extLst>
          </p:cNvPr>
          <p:cNvPicPr>
            <a:picLocks noChangeAspect="1"/>
          </p:cNvPicPr>
          <p:nvPr/>
        </p:nvPicPr>
        <p:blipFill>
          <a:blip r:embed="rId3"/>
          <a:stretch>
            <a:fillRect/>
          </a:stretch>
        </p:blipFill>
        <p:spPr>
          <a:xfrm>
            <a:off x="4980373" y="1758936"/>
            <a:ext cx="6427433" cy="3968986"/>
          </a:xfrm>
          <a:prstGeom prst="rect">
            <a:avLst/>
          </a:prstGeom>
        </p:spPr>
      </p:pic>
    </p:spTree>
    <p:extLst>
      <p:ext uri="{BB962C8B-B14F-4D97-AF65-F5344CB8AC3E}">
        <p14:creationId xmlns:p14="http://schemas.microsoft.com/office/powerpoint/2010/main" val="8692535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70596-AA27-BDB0-9E98-E536D1DC75C8}"/>
            </a:ext>
          </a:extLst>
        </p:cNvPr>
        <p:cNvGrpSpPr/>
        <p:nvPr/>
      </p:nvGrpSpPr>
      <p:grpSpPr>
        <a:xfrm>
          <a:off x="0" y="0"/>
          <a:ext cx="0" cy="0"/>
          <a:chOff x="0" y="0"/>
          <a:chExt cx="0" cy="0"/>
        </a:xfrm>
      </p:grpSpPr>
      <p:pic>
        <p:nvPicPr>
          <p:cNvPr id="8" name="Picture 7" descr="A green field with trees and a river&#10;&#10;AI-generated content may be incorrect.">
            <a:extLst>
              <a:ext uri="{FF2B5EF4-FFF2-40B4-BE49-F238E27FC236}">
                <a16:creationId xmlns:a16="http://schemas.microsoft.com/office/drawing/2014/main" id="{92DB9317-EE17-3F44-C4FE-7ED1BB21B08A}"/>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6467" b="16152"/>
          <a:stretch/>
        </p:blipFill>
        <p:spPr>
          <a:xfrm>
            <a:off x="-5315" y="0"/>
            <a:ext cx="12191980" cy="6855970"/>
          </a:xfrm>
          <a:prstGeom prst="rect">
            <a:avLst/>
          </a:prstGeom>
        </p:spPr>
      </p:pic>
      <p:sp>
        <p:nvSpPr>
          <p:cNvPr id="2" name="Title 1">
            <a:extLst>
              <a:ext uri="{FF2B5EF4-FFF2-40B4-BE49-F238E27FC236}">
                <a16:creationId xmlns:a16="http://schemas.microsoft.com/office/drawing/2014/main" id="{72F1B319-439E-8554-421A-EEE842C7D7A0}"/>
              </a:ext>
            </a:extLst>
          </p:cNvPr>
          <p:cNvSpPr>
            <a:spLocks noGrp="1"/>
          </p:cNvSpPr>
          <p:nvPr>
            <p:ph type="title"/>
          </p:nvPr>
        </p:nvSpPr>
        <p:spPr>
          <a:xfrm>
            <a:off x="468318" y="286409"/>
            <a:ext cx="10353761" cy="1326321"/>
          </a:xfrm>
        </p:spPr>
        <p:txBody>
          <a:bodyPr>
            <a:normAutofit/>
          </a:bodyPr>
          <a:lstStyle/>
          <a:p>
            <a:r>
              <a:rPr lang="en-US" dirty="0">
                <a:latin typeface="Times New Roman" panose="02020603050405020304" pitchFamily="18" charset="0"/>
                <a:cs typeface="Times New Roman" panose="02020603050405020304" pitchFamily="18" charset="0"/>
              </a:rPr>
              <a:t>Exploratory Data Analysis</a:t>
            </a:r>
          </a:p>
        </p:txBody>
      </p:sp>
      <p:pic>
        <p:nvPicPr>
          <p:cNvPr id="3" name="Picture 2">
            <a:extLst>
              <a:ext uri="{FF2B5EF4-FFF2-40B4-BE49-F238E27FC236}">
                <a16:creationId xmlns:a16="http://schemas.microsoft.com/office/drawing/2014/main" id="{2D3610E2-A1C1-D066-107C-B2B021EDCE96}"/>
              </a:ext>
            </a:extLst>
          </p:cNvPr>
          <p:cNvPicPr>
            <a:picLocks noChangeAspect="1"/>
          </p:cNvPicPr>
          <p:nvPr/>
        </p:nvPicPr>
        <p:blipFill>
          <a:blip r:embed="rId3"/>
          <a:stretch>
            <a:fillRect/>
          </a:stretch>
        </p:blipFill>
        <p:spPr>
          <a:xfrm>
            <a:off x="5005754" y="1899138"/>
            <a:ext cx="6447692" cy="4298675"/>
          </a:xfrm>
          <a:prstGeom prst="rect">
            <a:avLst/>
          </a:prstGeom>
        </p:spPr>
      </p:pic>
      <p:sp>
        <p:nvSpPr>
          <p:cNvPr id="7" name="TextBox 6">
            <a:extLst>
              <a:ext uri="{FF2B5EF4-FFF2-40B4-BE49-F238E27FC236}">
                <a16:creationId xmlns:a16="http://schemas.microsoft.com/office/drawing/2014/main" id="{1338EAA7-0778-1CEF-E834-AE609C2349FF}"/>
              </a:ext>
            </a:extLst>
          </p:cNvPr>
          <p:cNvSpPr txBox="1"/>
          <p:nvPr/>
        </p:nvSpPr>
        <p:spPr>
          <a:xfrm>
            <a:off x="121586" y="2059469"/>
            <a:ext cx="4757268" cy="3978012"/>
          </a:xfrm>
          <a:prstGeom prst="rect">
            <a:avLst/>
          </a:prstGeom>
          <a:noFill/>
        </p:spPr>
        <p:txBody>
          <a:bodyPr wrap="square">
            <a:spAutoFit/>
          </a:bodyPr>
          <a:lstStyle/>
          <a:p>
            <a:pPr algn="l">
              <a:lnSpc>
                <a:spcPts val="2143"/>
              </a:lnSpc>
              <a:spcBef>
                <a:spcPts val="1029"/>
              </a:spcBef>
              <a:spcAft>
                <a:spcPts val="300"/>
              </a:spcAft>
            </a:pPr>
            <a:r>
              <a:rPr lang="en-US" b="1" i="0" dirty="0">
                <a:solidFill>
                  <a:srgbClr val="F8FAFF"/>
                </a:solidFill>
                <a:effectLst/>
                <a:latin typeface="Times New Roman" panose="02020603050405020304" pitchFamily="18" charset="0"/>
                <a:cs typeface="Times New Roman" panose="02020603050405020304" pitchFamily="18" charset="0"/>
              </a:rPr>
              <a:t>Regional Dominance</a:t>
            </a:r>
            <a:r>
              <a:rPr lang="en-US" b="0" i="0" dirty="0">
                <a:solidFill>
                  <a:srgbClr val="F8FAFF"/>
                </a:solidFill>
                <a:effectLst/>
                <a:latin typeface="Times New Roman" panose="02020603050405020304" pitchFamily="18" charset="0"/>
                <a:cs typeface="Times New Roman" panose="02020603050405020304" pitchFamily="18" charset="0"/>
              </a:rPr>
              <a:t>:</a:t>
            </a:r>
          </a:p>
          <a:p>
            <a:pPr marL="742950" lvl="1" indent="-285750" algn="l">
              <a:lnSpc>
                <a:spcPts val="2143"/>
              </a:lnSpc>
              <a:spcBef>
                <a:spcPts val="300"/>
              </a:spcBef>
              <a:spcAft>
                <a:spcPts val="1029"/>
              </a:spcAft>
              <a:buFont typeface="Arial" panose="020B0604020202020204" pitchFamily="34" charset="0"/>
              <a:buChar char="•"/>
            </a:pPr>
            <a:r>
              <a:rPr lang="en-US" b="1" i="0" dirty="0">
                <a:solidFill>
                  <a:srgbClr val="F8FAFF"/>
                </a:solidFill>
                <a:effectLst/>
                <a:latin typeface="Times New Roman" panose="02020603050405020304" pitchFamily="18" charset="0"/>
                <a:cs typeface="Times New Roman" panose="02020603050405020304" pitchFamily="18" charset="0"/>
              </a:rPr>
              <a:t>Africa</a:t>
            </a:r>
            <a:r>
              <a:rPr lang="en-US" b="0" i="0" dirty="0">
                <a:solidFill>
                  <a:srgbClr val="F8FAFF"/>
                </a:solidFill>
                <a:effectLst/>
                <a:latin typeface="Times New Roman" panose="02020603050405020304" pitchFamily="18" charset="0"/>
                <a:cs typeface="Times New Roman" panose="02020603050405020304" pitchFamily="18" charset="0"/>
              </a:rPr>
              <a:t> relies heavily on </a:t>
            </a:r>
            <a:r>
              <a:rPr lang="en-US" b="1" i="0" dirty="0">
                <a:solidFill>
                  <a:srgbClr val="F8FAFF"/>
                </a:solidFill>
                <a:effectLst/>
                <a:latin typeface="Times New Roman" panose="02020603050405020304" pitchFamily="18" charset="0"/>
                <a:cs typeface="Times New Roman" panose="02020603050405020304" pitchFamily="18" charset="0"/>
              </a:rPr>
              <a:t>Maize (951 records)</a:t>
            </a:r>
            <a:r>
              <a:rPr lang="en-US" b="0" i="0" dirty="0">
                <a:solidFill>
                  <a:srgbClr val="F8FAFF"/>
                </a:solidFill>
                <a:effectLst/>
                <a:latin typeface="Times New Roman" panose="02020603050405020304" pitchFamily="18" charset="0"/>
                <a:cs typeface="Times New Roman" panose="02020603050405020304" pitchFamily="18" charset="0"/>
              </a:rPr>
              <a:t> with minimal soybean production</a:t>
            </a:r>
          </a:p>
          <a:p>
            <a:pPr marL="742950" lvl="1" indent="-285750" algn="l">
              <a:lnSpc>
                <a:spcPts val="2143"/>
              </a:lnSpc>
              <a:spcBef>
                <a:spcPts val="300"/>
              </a:spcBef>
              <a:spcAft>
                <a:spcPts val="1029"/>
              </a:spcAft>
              <a:buFont typeface="Arial" panose="020B0604020202020204" pitchFamily="34" charset="0"/>
              <a:buChar char="•"/>
            </a:pPr>
            <a:r>
              <a:rPr lang="en-US" b="1" i="0" dirty="0">
                <a:solidFill>
                  <a:srgbClr val="F8FAFF"/>
                </a:solidFill>
                <a:effectLst/>
                <a:latin typeface="Times New Roman" panose="02020603050405020304" pitchFamily="18" charset="0"/>
                <a:cs typeface="Times New Roman" panose="02020603050405020304" pitchFamily="18" charset="0"/>
              </a:rPr>
              <a:t>Asia</a:t>
            </a:r>
            <a:r>
              <a:rPr lang="en-US" b="0" i="0" dirty="0">
                <a:solidFill>
                  <a:srgbClr val="F8FAFF"/>
                </a:solidFill>
                <a:effectLst/>
                <a:latin typeface="Times New Roman" panose="02020603050405020304" pitchFamily="18" charset="0"/>
                <a:cs typeface="Times New Roman" panose="02020603050405020304" pitchFamily="18" charset="0"/>
              </a:rPr>
              <a:t> balances </a:t>
            </a:r>
            <a:r>
              <a:rPr lang="en-US" b="1" i="0" dirty="0">
                <a:solidFill>
                  <a:srgbClr val="F8FAFF"/>
                </a:solidFill>
                <a:effectLst/>
                <a:latin typeface="Times New Roman" panose="02020603050405020304" pitchFamily="18" charset="0"/>
                <a:cs typeface="Times New Roman" panose="02020603050405020304" pitchFamily="18" charset="0"/>
              </a:rPr>
              <a:t>Maize (1378)</a:t>
            </a:r>
            <a:r>
              <a:rPr lang="en-US" b="0" i="0" dirty="0">
                <a:solidFill>
                  <a:srgbClr val="F8FAFF"/>
                </a:solidFill>
                <a:effectLst/>
                <a:latin typeface="Times New Roman" panose="02020603050405020304" pitchFamily="18" charset="0"/>
                <a:cs typeface="Times New Roman" panose="02020603050405020304" pitchFamily="18" charset="0"/>
              </a:rPr>
              <a:t> and </a:t>
            </a:r>
            <a:r>
              <a:rPr lang="en-US" b="1" i="0" dirty="0">
                <a:solidFill>
                  <a:srgbClr val="F8FAFF"/>
                </a:solidFill>
                <a:effectLst/>
                <a:latin typeface="Times New Roman" panose="02020603050405020304" pitchFamily="18" charset="0"/>
                <a:cs typeface="Times New Roman" panose="02020603050405020304" pitchFamily="18" charset="0"/>
              </a:rPr>
              <a:t>Rice (1240)</a:t>
            </a:r>
            <a:r>
              <a:rPr lang="en-US" b="0" i="0" dirty="0">
                <a:solidFill>
                  <a:srgbClr val="F8FAFF"/>
                </a:solidFill>
                <a:effectLst/>
                <a:latin typeface="Times New Roman" panose="02020603050405020304" pitchFamily="18" charset="0"/>
                <a:cs typeface="Times New Roman" panose="02020603050405020304" pitchFamily="18" charset="0"/>
              </a:rPr>
              <a:t>, showing diversified staples</a:t>
            </a:r>
          </a:p>
          <a:p>
            <a:pPr algn="l">
              <a:lnSpc>
                <a:spcPts val="2143"/>
              </a:lnSpc>
              <a:spcBef>
                <a:spcPts val="300"/>
              </a:spcBef>
              <a:spcAft>
                <a:spcPts val="300"/>
              </a:spcAft>
            </a:pPr>
            <a:r>
              <a:rPr lang="en-US" b="1" i="0" dirty="0">
                <a:solidFill>
                  <a:srgbClr val="F8FAFF"/>
                </a:solidFill>
                <a:effectLst/>
                <a:latin typeface="Times New Roman" panose="02020603050405020304" pitchFamily="18" charset="0"/>
                <a:cs typeface="Times New Roman" panose="02020603050405020304" pitchFamily="18" charset="0"/>
              </a:rPr>
              <a:t>Missing Diversity</a:t>
            </a:r>
            <a:r>
              <a:rPr lang="en-US" b="0" i="0" dirty="0">
                <a:solidFill>
                  <a:srgbClr val="F8FAFF"/>
                </a:solidFill>
                <a:effectLst/>
                <a:latin typeface="Times New Roman" panose="02020603050405020304" pitchFamily="18" charset="0"/>
                <a:cs typeface="Times New Roman" panose="02020603050405020304" pitchFamily="18" charset="0"/>
              </a:rPr>
              <a:t>:</a:t>
            </a:r>
          </a:p>
          <a:p>
            <a:pPr marL="742950" lvl="1" indent="-285750" algn="l">
              <a:lnSpc>
                <a:spcPts val="2143"/>
              </a:lnSpc>
              <a:spcBef>
                <a:spcPts val="300"/>
              </a:spcBef>
              <a:spcAft>
                <a:spcPts val="1029"/>
              </a:spcAft>
              <a:buFont typeface="Arial" panose="020B0604020202020204" pitchFamily="34" charset="0"/>
              <a:buChar char="•"/>
            </a:pPr>
            <a:r>
              <a:rPr lang="en-US" b="1" i="0" dirty="0">
                <a:solidFill>
                  <a:srgbClr val="F8FAFF"/>
                </a:solidFill>
                <a:effectLst/>
                <a:latin typeface="Times New Roman" panose="02020603050405020304" pitchFamily="18" charset="0"/>
                <a:cs typeface="Times New Roman" panose="02020603050405020304" pitchFamily="18" charset="0"/>
              </a:rPr>
              <a:t>Soybean absent</a:t>
            </a:r>
            <a:r>
              <a:rPr lang="en-US" b="0" i="0" dirty="0">
                <a:solidFill>
                  <a:srgbClr val="F8FAFF"/>
                </a:solidFill>
                <a:effectLst/>
                <a:latin typeface="Times New Roman" panose="02020603050405020304" pitchFamily="18" charset="0"/>
                <a:cs typeface="Times New Roman" panose="02020603050405020304" pitchFamily="18" charset="0"/>
              </a:rPr>
              <a:t> in African/European data, highlighting untapped adaptation potential</a:t>
            </a:r>
          </a:p>
          <a:p>
            <a:pPr marL="742950" lvl="1" indent="-285750" algn="l">
              <a:lnSpc>
                <a:spcPts val="2143"/>
              </a:lnSpc>
              <a:spcBef>
                <a:spcPts val="300"/>
              </a:spcBef>
              <a:spcAft>
                <a:spcPts val="1029"/>
              </a:spcAft>
              <a:buFont typeface="Arial" panose="020B0604020202020204" pitchFamily="34" charset="0"/>
              <a:buChar char="•"/>
            </a:pPr>
            <a:r>
              <a:rPr lang="en-US" b="1" i="0" dirty="0">
                <a:solidFill>
                  <a:srgbClr val="F8FAFF"/>
                </a:solidFill>
                <a:effectLst/>
                <a:latin typeface="Times New Roman" panose="02020603050405020304" pitchFamily="18" charset="0"/>
                <a:cs typeface="Times New Roman" panose="02020603050405020304" pitchFamily="18" charset="0"/>
              </a:rPr>
              <a:t>North America</a:t>
            </a:r>
            <a:r>
              <a:rPr lang="en-US" b="0" i="0" dirty="0">
                <a:solidFill>
                  <a:srgbClr val="F8FAFF"/>
                </a:solidFill>
                <a:effectLst/>
                <a:latin typeface="Times New Roman" panose="02020603050405020304" pitchFamily="18" charset="0"/>
                <a:cs typeface="Times New Roman" panose="02020603050405020304" pitchFamily="18" charset="0"/>
              </a:rPr>
              <a:t> grows </a:t>
            </a:r>
            <a:r>
              <a:rPr lang="en-US" b="1" i="0" dirty="0">
                <a:solidFill>
                  <a:srgbClr val="F8FAFF"/>
                </a:solidFill>
                <a:effectLst/>
                <a:latin typeface="Times New Roman" panose="02020603050405020304" pitchFamily="18" charset="0"/>
                <a:cs typeface="Times New Roman" panose="02020603050405020304" pitchFamily="18" charset="0"/>
              </a:rPr>
              <a:t>all 4 crops</a:t>
            </a:r>
            <a:r>
              <a:rPr lang="en-US" b="0" i="0" dirty="0">
                <a:solidFill>
                  <a:srgbClr val="F8FAFF"/>
                </a:solidFill>
                <a:effectLst/>
                <a:latin typeface="Times New Roman" panose="02020603050405020304" pitchFamily="18" charset="0"/>
                <a:cs typeface="Times New Roman" panose="02020603050405020304" pitchFamily="18" charset="0"/>
              </a:rPr>
              <a:t>, suggesting adaptable farming systems</a:t>
            </a:r>
          </a:p>
        </p:txBody>
      </p:sp>
    </p:spTree>
    <p:extLst>
      <p:ext uri="{BB962C8B-B14F-4D97-AF65-F5344CB8AC3E}">
        <p14:creationId xmlns:p14="http://schemas.microsoft.com/office/powerpoint/2010/main" val="5335485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5765F-A222-E87C-BE6F-D0CCF5533999}"/>
            </a:ext>
          </a:extLst>
        </p:cNvPr>
        <p:cNvGrpSpPr/>
        <p:nvPr/>
      </p:nvGrpSpPr>
      <p:grpSpPr>
        <a:xfrm>
          <a:off x="0" y="0"/>
          <a:ext cx="0" cy="0"/>
          <a:chOff x="0" y="0"/>
          <a:chExt cx="0" cy="0"/>
        </a:xfrm>
      </p:grpSpPr>
      <p:pic>
        <p:nvPicPr>
          <p:cNvPr id="8" name="Picture 7" descr="A green field with trees and a river&#10;&#10;AI-generated content may be incorrect.">
            <a:extLst>
              <a:ext uri="{FF2B5EF4-FFF2-40B4-BE49-F238E27FC236}">
                <a16:creationId xmlns:a16="http://schemas.microsoft.com/office/drawing/2014/main" id="{60A989AF-E5FB-4024-7EAC-3B30A8751B07}"/>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6467" b="16152"/>
          <a:stretch/>
        </p:blipFill>
        <p:spPr>
          <a:xfrm>
            <a:off x="20" y="2030"/>
            <a:ext cx="12191980" cy="6855970"/>
          </a:xfrm>
          <a:prstGeom prst="rect">
            <a:avLst/>
          </a:prstGeom>
        </p:spPr>
      </p:pic>
      <p:sp>
        <p:nvSpPr>
          <p:cNvPr id="4" name="Rectangle 2">
            <a:extLst>
              <a:ext uri="{FF2B5EF4-FFF2-40B4-BE49-F238E27FC236}">
                <a16:creationId xmlns:a16="http://schemas.microsoft.com/office/drawing/2014/main" id="{5836BE65-640D-7039-DC0D-2130FA40D7A9}"/>
              </a:ext>
            </a:extLst>
          </p:cNvPr>
          <p:cNvSpPr>
            <a:spLocks noGrp="1" noChangeArrowheads="1"/>
          </p:cNvSpPr>
          <p:nvPr>
            <p:ph idx="1"/>
          </p:nvPr>
        </p:nvSpPr>
        <p:spPr bwMode="auto">
          <a:xfrm>
            <a:off x="6809172" y="2181709"/>
            <a:ext cx="4341181"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CO₂ vs. Yield Relationship:</a:t>
            </a:r>
            <a:b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Wheat yields plateau beyond 520 ppm CO₂, indicating a threshold limit. Maize 	shows volatile yield responses around CO₂ changes (±1.2 t/ha).</a:t>
            </a:r>
          </a:p>
          <a:p>
            <a:pPr marL="0" marR="0" lvl="0" indent="0" algn="l" defTabSz="914400" rtl="0" eaLnBrk="0" fontAlgn="base" latinLnBrk="0" hangingPunct="0">
              <a:lnSpc>
                <a:spcPct val="100000"/>
              </a:lnSpc>
              <a:spcBef>
                <a:spcPct val="0"/>
              </a:spcBef>
              <a:spcAft>
                <a:spcPct val="0"/>
              </a:spcAft>
              <a:buClrTx/>
              <a:buSzTx/>
              <a:buNone/>
              <a:tabLst/>
            </a:pPr>
            <a:b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Policy Implication: CO₂ fertilization benefits diminish beyond optimal levels, 	requiring crop-specific strategies.</a:t>
            </a:r>
          </a:p>
        </p:txBody>
      </p:sp>
      <p:pic>
        <p:nvPicPr>
          <p:cNvPr id="5" name="Picture 4">
            <a:extLst>
              <a:ext uri="{FF2B5EF4-FFF2-40B4-BE49-F238E27FC236}">
                <a16:creationId xmlns:a16="http://schemas.microsoft.com/office/drawing/2014/main" id="{53253DBC-D380-9821-1C5F-D64D213916B2}"/>
              </a:ext>
            </a:extLst>
          </p:cNvPr>
          <p:cNvPicPr>
            <a:picLocks noChangeAspect="1"/>
          </p:cNvPicPr>
          <p:nvPr/>
        </p:nvPicPr>
        <p:blipFill>
          <a:blip r:embed="rId3"/>
          <a:stretch>
            <a:fillRect/>
          </a:stretch>
        </p:blipFill>
        <p:spPr>
          <a:xfrm>
            <a:off x="640278" y="2000313"/>
            <a:ext cx="5576516" cy="3885582"/>
          </a:xfrm>
          <a:prstGeom prst="rect">
            <a:avLst/>
          </a:prstGeom>
        </p:spPr>
      </p:pic>
      <p:sp>
        <p:nvSpPr>
          <p:cNvPr id="6" name="TextBox 5">
            <a:extLst>
              <a:ext uri="{FF2B5EF4-FFF2-40B4-BE49-F238E27FC236}">
                <a16:creationId xmlns:a16="http://schemas.microsoft.com/office/drawing/2014/main" id="{A3B95586-3DA8-89E9-821F-F5E26516573A}"/>
              </a:ext>
            </a:extLst>
          </p:cNvPr>
          <p:cNvSpPr txBox="1"/>
          <p:nvPr/>
        </p:nvSpPr>
        <p:spPr>
          <a:xfrm>
            <a:off x="867508" y="675517"/>
            <a:ext cx="6693876" cy="646331"/>
          </a:xfrm>
          <a:prstGeom prst="rect">
            <a:avLst/>
          </a:prstGeom>
          <a:noFill/>
        </p:spPr>
        <p:txBody>
          <a:bodyPr wrap="square">
            <a:spAutoFit/>
          </a:bodyPr>
          <a:lstStyle/>
          <a:p>
            <a:r>
              <a:rPr lang="en-US" sz="3600" dirty="0">
                <a:latin typeface="Times New Roman" panose="02020603050405020304" pitchFamily="18" charset="0"/>
                <a:cs typeface="Times New Roman" panose="02020603050405020304" pitchFamily="18" charset="0"/>
              </a:rPr>
              <a:t>Exploratory Data Analysis</a:t>
            </a:r>
          </a:p>
        </p:txBody>
      </p:sp>
    </p:spTree>
    <p:extLst>
      <p:ext uri="{BB962C8B-B14F-4D97-AF65-F5344CB8AC3E}">
        <p14:creationId xmlns:p14="http://schemas.microsoft.com/office/powerpoint/2010/main" val="20548708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CB42F-778E-EDC0-9995-77331BF44B3C}"/>
            </a:ext>
          </a:extLst>
        </p:cNvPr>
        <p:cNvGrpSpPr/>
        <p:nvPr/>
      </p:nvGrpSpPr>
      <p:grpSpPr>
        <a:xfrm>
          <a:off x="0" y="0"/>
          <a:ext cx="0" cy="0"/>
          <a:chOff x="0" y="0"/>
          <a:chExt cx="0" cy="0"/>
        </a:xfrm>
      </p:grpSpPr>
      <p:pic>
        <p:nvPicPr>
          <p:cNvPr id="8" name="Picture 7" descr="A green field with trees and a river&#10;&#10;AI-generated content may be incorrect.">
            <a:extLst>
              <a:ext uri="{FF2B5EF4-FFF2-40B4-BE49-F238E27FC236}">
                <a16:creationId xmlns:a16="http://schemas.microsoft.com/office/drawing/2014/main" id="{524BAF40-3410-3CCA-BC85-40AA5F99004A}"/>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6467" b="16152"/>
          <a:stretch/>
        </p:blipFill>
        <p:spPr>
          <a:xfrm>
            <a:off x="20" y="2030"/>
            <a:ext cx="12191980" cy="6855970"/>
          </a:xfrm>
          <a:prstGeom prst="rect">
            <a:avLst/>
          </a:prstGeom>
        </p:spPr>
      </p:pic>
      <p:sp>
        <p:nvSpPr>
          <p:cNvPr id="2" name="Title 1">
            <a:extLst>
              <a:ext uri="{FF2B5EF4-FFF2-40B4-BE49-F238E27FC236}">
                <a16:creationId xmlns:a16="http://schemas.microsoft.com/office/drawing/2014/main" id="{4F9A4FF9-3CB1-D097-8C30-6AA492BD59FA}"/>
              </a:ext>
            </a:extLst>
          </p:cNvPr>
          <p:cNvSpPr>
            <a:spLocks noGrp="1"/>
          </p:cNvSpPr>
          <p:nvPr>
            <p:ph type="title"/>
          </p:nvPr>
        </p:nvSpPr>
        <p:spPr>
          <a:xfrm>
            <a:off x="753009" y="120371"/>
            <a:ext cx="10353761" cy="1326321"/>
          </a:xfrm>
        </p:spPr>
        <p:txBody>
          <a:bodyPr>
            <a:normAutofit/>
          </a:bodyPr>
          <a:lstStyle/>
          <a:p>
            <a:r>
              <a:rPr lang="en-US" dirty="0">
                <a:latin typeface="Times New Roman" panose="02020603050405020304" pitchFamily="18" charset="0"/>
                <a:cs typeface="Times New Roman" panose="02020603050405020304" pitchFamily="18" charset="0"/>
              </a:rPr>
              <a:t>Proposed Solution</a:t>
            </a:r>
          </a:p>
        </p:txBody>
      </p:sp>
      <p:sp>
        <p:nvSpPr>
          <p:cNvPr id="3" name="Rectangle 1">
            <a:extLst>
              <a:ext uri="{FF2B5EF4-FFF2-40B4-BE49-F238E27FC236}">
                <a16:creationId xmlns:a16="http://schemas.microsoft.com/office/drawing/2014/main" id="{60BB399B-C6C7-B5A0-1C6F-8039A57312DD}"/>
              </a:ext>
            </a:extLst>
          </p:cNvPr>
          <p:cNvSpPr>
            <a:spLocks noGrp="1" noChangeArrowheads="1"/>
          </p:cNvSpPr>
          <p:nvPr>
            <p:ph idx="1"/>
          </p:nvPr>
        </p:nvSpPr>
        <p:spPr bwMode="auto">
          <a:xfrm>
            <a:off x="1198486" y="1427611"/>
            <a:ext cx="10548037" cy="4786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l">
              <a:lnSpc>
                <a:spcPts val="2143"/>
              </a:lnSpc>
              <a:spcBef>
                <a:spcPts val="1372"/>
              </a:spcBef>
              <a:spcAft>
                <a:spcPts val="1029"/>
              </a:spcAft>
              <a:buNone/>
            </a:pPr>
            <a:r>
              <a:rPr lang="en-US" b="1" i="0" dirty="0">
                <a:solidFill>
                  <a:srgbClr val="F8FAFF"/>
                </a:solidFill>
                <a:effectLst/>
                <a:latin typeface="Times New Roman" panose="02020603050405020304" pitchFamily="18" charset="0"/>
                <a:cs typeface="Times New Roman" panose="02020603050405020304" pitchFamily="18" charset="0"/>
              </a:rPr>
              <a:t>  1. Methodology</a:t>
            </a:r>
            <a:endParaRPr lang="en-US" b="0" i="0" dirty="0">
              <a:solidFill>
                <a:srgbClr val="F8FAFF"/>
              </a:solidFill>
              <a:effectLst/>
              <a:latin typeface="Times New Roman" panose="02020603050405020304" pitchFamily="18" charset="0"/>
              <a:cs typeface="Times New Roman" panose="02020603050405020304" pitchFamily="18" charset="0"/>
            </a:endParaRPr>
          </a:p>
          <a:p>
            <a:pPr algn="l">
              <a:lnSpc>
                <a:spcPts val="2143"/>
              </a:lnSpc>
              <a:spcBef>
                <a:spcPts val="1029"/>
              </a:spcBef>
              <a:spcAft>
                <a:spcPts val="1029"/>
              </a:spcAft>
              <a:buFont typeface="Arial" panose="020B0604020202020204" pitchFamily="34" charset="0"/>
              <a:buChar char="•"/>
            </a:pPr>
            <a:r>
              <a:rPr lang="en-US" b="1" i="0" dirty="0">
                <a:solidFill>
                  <a:srgbClr val="F8FAFF"/>
                </a:solidFill>
                <a:effectLst/>
                <a:latin typeface="Times New Roman" panose="02020603050405020304" pitchFamily="18" charset="0"/>
                <a:cs typeface="Times New Roman" panose="02020603050405020304" pitchFamily="18" charset="0"/>
              </a:rPr>
              <a:t>Data Fusion</a:t>
            </a:r>
            <a:r>
              <a:rPr lang="en-US" b="0" i="0" dirty="0">
                <a:solidFill>
                  <a:srgbClr val="F8FAFF"/>
                </a:solidFill>
                <a:effectLst/>
                <a:latin typeface="Times New Roman" panose="02020603050405020304" pitchFamily="18" charset="0"/>
                <a:cs typeface="Times New Roman" panose="02020603050405020304" pitchFamily="18" charset="0"/>
              </a:rPr>
              <a:t>: Integrated climate data (CO₂, </a:t>
            </a:r>
            <a:r>
              <a:rPr lang="el-GR" b="0" i="0" dirty="0">
                <a:solidFill>
                  <a:srgbClr val="F8FAFF"/>
                </a:solidFill>
                <a:effectLst/>
                <a:latin typeface="Times New Roman" panose="02020603050405020304" pitchFamily="18" charset="0"/>
                <a:cs typeface="Times New Roman" panose="02020603050405020304" pitchFamily="18" charset="0"/>
              </a:rPr>
              <a:t>Δ</a:t>
            </a:r>
            <a:r>
              <a:rPr lang="en-US" b="0" i="0" dirty="0">
                <a:solidFill>
                  <a:srgbClr val="F8FAFF"/>
                </a:solidFill>
                <a:effectLst/>
                <a:latin typeface="Times New Roman" panose="02020603050405020304" pitchFamily="18" charset="0"/>
                <a:cs typeface="Times New Roman" panose="02020603050405020304" pitchFamily="18" charset="0"/>
              </a:rPr>
              <a:t>T, precipitation) with agronomic records (yields, practices)</a:t>
            </a:r>
          </a:p>
          <a:p>
            <a:pPr algn="l">
              <a:lnSpc>
                <a:spcPts val="2143"/>
              </a:lnSpc>
              <a:spcBef>
                <a:spcPts val="300"/>
              </a:spcBef>
              <a:spcAft>
                <a:spcPts val="1029"/>
              </a:spcAft>
              <a:buFont typeface="Arial" panose="020B0604020202020204" pitchFamily="34" charset="0"/>
              <a:buChar char="•"/>
            </a:pPr>
            <a:r>
              <a:rPr lang="en-US" b="1" i="0" dirty="0">
                <a:solidFill>
                  <a:srgbClr val="F8FAFF"/>
                </a:solidFill>
                <a:effectLst/>
                <a:latin typeface="Times New Roman" panose="02020603050405020304" pitchFamily="18" charset="0"/>
                <a:cs typeface="Times New Roman" panose="02020603050405020304" pitchFamily="18" charset="0"/>
              </a:rPr>
              <a:t>Regional Segmentation</a:t>
            </a:r>
            <a:r>
              <a:rPr lang="en-US" b="0" i="0" dirty="0">
                <a:solidFill>
                  <a:srgbClr val="F8FAFF"/>
                </a:solidFill>
                <a:effectLst/>
                <a:latin typeface="Times New Roman" panose="02020603050405020304" pitchFamily="18" charset="0"/>
                <a:cs typeface="Times New Roman" panose="02020603050405020304" pitchFamily="18" charset="0"/>
              </a:rPr>
              <a:t>: Analyzed 5 global regions separately to capture local dynamics.</a:t>
            </a:r>
          </a:p>
          <a:p>
            <a:pPr marL="0" indent="0" algn="l">
              <a:lnSpc>
                <a:spcPts val="2143"/>
              </a:lnSpc>
              <a:spcBef>
                <a:spcPts val="300"/>
              </a:spcBef>
              <a:spcAft>
                <a:spcPts val="1029"/>
              </a:spcAft>
              <a:buNone/>
            </a:pPr>
            <a:endParaRPr lang="en-US" b="0" i="0" dirty="0">
              <a:solidFill>
                <a:srgbClr val="F8FAFF"/>
              </a:solidFill>
              <a:effectLst/>
              <a:latin typeface="Times New Roman" panose="02020603050405020304" pitchFamily="18" charset="0"/>
              <a:cs typeface="Times New Roman" panose="02020603050405020304" pitchFamily="18" charset="0"/>
            </a:endParaRPr>
          </a:p>
          <a:p>
            <a:pPr algn="l">
              <a:lnSpc>
                <a:spcPts val="2143"/>
              </a:lnSpc>
              <a:spcBef>
                <a:spcPts val="1372"/>
              </a:spcBef>
              <a:spcAft>
                <a:spcPts val="1029"/>
              </a:spcAft>
              <a:buNone/>
            </a:pPr>
            <a:r>
              <a:rPr lang="en-US" b="1" i="0" dirty="0">
                <a:solidFill>
                  <a:srgbClr val="F8FAFF"/>
                </a:solidFill>
                <a:effectLst/>
                <a:latin typeface="Times New Roman" panose="02020603050405020304" pitchFamily="18" charset="0"/>
                <a:cs typeface="Times New Roman" panose="02020603050405020304" pitchFamily="18" charset="0"/>
              </a:rPr>
              <a:t>2. Technical Core</a:t>
            </a:r>
            <a:endParaRPr lang="en-US" b="0" i="0" dirty="0">
              <a:solidFill>
                <a:srgbClr val="F8FAFF"/>
              </a:solidFill>
              <a:effectLst/>
              <a:latin typeface="Times New Roman" panose="02020603050405020304" pitchFamily="18" charset="0"/>
              <a:cs typeface="Times New Roman" panose="02020603050405020304" pitchFamily="18" charset="0"/>
            </a:endParaRPr>
          </a:p>
          <a:p>
            <a:pPr algn="l">
              <a:lnSpc>
                <a:spcPts val="2143"/>
              </a:lnSpc>
              <a:spcBef>
                <a:spcPts val="1029"/>
              </a:spcBef>
              <a:spcAft>
                <a:spcPts val="300"/>
              </a:spcAft>
              <a:buFont typeface="Arial" panose="020B0604020202020204" pitchFamily="34" charset="0"/>
              <a:buChar char="•"/>
            </a:pPr>
            <a:r>
              <a:rPr lang="en-US" b="1" i="0" dirty="0">
                <a:solidFill>
                  <a:srgbClr val="F8FAFF"/>
                </a:solidFill>
                <a:effectLst/>
                <a:latin typeface="Times New Roman" panose="02020603050405020304" pitchFamily="18" charset="0"/>
                <a:cs typeface="Times New Roman" panose="02020603050405020304" pitchFamily="18" charset="0"/>
              </a:rPr>
              <a:t>Algorithms</a:t>
            </a:r>
            <a:r>
              <a:rPr lang="en-US" b="0" i="0" dirty="0">
                <a:solidFill>
                  <a:srgbClr val="F8FAFF"/>
                </a:solidFill>
                <a:effectLst/>
                <a:latin typeface="Times New Roman" panose="02020603050405020304" pitchFamily="18" charset="0"/>
                <a:cs typeface="Times New Roman" panose="02020603050405020304" pitchFamily="18" charset="0"/>
              </a:rPr>
              <a:t>:</a:t>
            </a:r>
          </a:p>
          <a:p>
            <a:pPr marL="742950" lvl="1" indent="-285750" algn="l">
              <a:lnSpc>
                <a:spcPts val="2143"/>
              </a:lnSpc>
              <a:spcBef>
                <a:spcPts val="300"/>
              </a:spcBef>
              <a:spcAft>
                <a:spcPts val="1029"/>
              </a:spcAft>
              <a:buFont typeface="Arial" panose="020B0604020202020204" pitchFamily="34" charset="0"/>
              <a:buChar char="•"/>
            </a:pPr>
            <a:r>
              <a:rPr lang="en-US" b="1" i="0" dirty="0">
                <a:solidFill>
                  <a:srgbClr val="F8FAFF"/>
                </a:solidFill>
                <a:effectLst/>
                <a:latin typeface="Times New Roman" panose="02020603050405020304" pitchFamily="18" charset="0"/>
                <a:cs typeface="Times New Roman" panose="02020603050405020304" pitchFamily="18" charset="0"/>
              </a:rPr>
              <a:t>Random Forest/</a:t>
            </a:r>
            <a:r>
              <a:rPr lang="en-US" b="1" i="0" dirty="0" err="1">
                <a:solidFill>
                  <a:srgbClr val="F8FAFF"/>
                </a:solidFill>
                <a:effectLst/>
                <a:latin typeface="Times New Roman" panose="02020603050405020304" pitchFamily="18" charset="0"/>
                <a:cs typeface="Times New Roman" panose="02020603050405020304" pitchFamily="18" charset="0"/>
              </a:rPr>
              <a:t>XGBoost</a:t>
            </a:r>
            <a:r>
              <a:rPr lang="en-US" b="0" i="0" dirty="0">
                <a:solidFill>
                  <a:srgbClr val="F8FAFF"/>
                </a:solidFill>
                <a:effectLst/>
                <a:latin typeface="Times New Roman" panose="02020603050405020304" pitchFamily="18" charset="0"/>
                <a:cs typeface="Times New Roman" panose="02020603050405020304" pitchFamily="18" charset="0"/>
              </a:rPr>
              <a:t>: For nonlinear yield prediction (R²: 0.77)</a:t>
            </a:r>
          </a:p>
          <a:p>
            <a:pPr marL="742950" lvl="1" indent="-285750" algn="l">
              <a:lnSpc>
                <a:spcPts val="2143"/>
              </a:lnSpc>
              <a:spcBef>
                <a:spcPts val="300"/>
              </a:spcBef>
              <a:spcAft>
                <a:spcPts val="1029"/>
              </a:spcAft>
              <a:buFont typeface="Arial" panose="020B0604020202020204" pitchFamily="34" charset="0"/>
              <a:buChar char="•"/>
            </a:pPr>
            <a:r>
              <a:rPr lang="en-US" b="1" i="0" dirty="0">
                <a:solidFill>
                  <a:srgbClr val="F8FAFF"/>
                </a:solidFill>
                <a:effectLst/>
                <a:latin typeface="Times New Roman" panose="02020603050405020304" pitchFamily="18" charset="0"/>
                <a:cs typeface="Times New Roman" panose="02020603050405020304" pitchFamily="18" charset="0"/>
              </a:rPr>
              <a:t>PCA</a:t>
            </a:r>
            <a:r>
              <a:rPr lang="en-US" b="0" i="0" dirty="0">
                <a:solidFill>
                  <a:srgbClr val="F8FAFF"/>
                </a:solidFill>
                <a:effectLst/>
                <a:latin typeface="Times New Roman" panose="02020603050405020304" pitchFamily="18" charset="0"/>
                <a:cs typeface="Times New Roman" panose="02020603050405020304" pitchFamily="18" charset="0"/>
              </a:rPr>
              <a:t>: Reduced 40+ features to 15 key drivers (95% variance retained)</a:t>
            </a:r>
          </a:p>
          <a:p>
            <a:pPr marL="457200" lvl="1" indent="0" algn="l">
              <a:lnSpc>
                <a:spcPts val="2143"/>
              </a:lnSpc>
              <a:spcBef>
                <a:spcPts val="300"/>
              </a:spcBef>
              <a:spcAft>
                <a:spcPts val="1029"/>
              </a:spcAft>
              <a:buNone/>
            </a:pPr>
            <a:endParaRPr lang="en-US" b="0" i="0" dirty="0">
              <a:solidFill>
                <a:srgbClr val="F8FAFF"/>
              </a:solidFill>
              <a:effectLst/>
              <a:latin typeface="Times New Roman" panose="02020603050405020304" pitchFamily="18" charset="0"/>
              <a:cs typeface="Times New Roman" panose="02020603050405020304" pitchFamily="18" charset="0"/>
            </a:endParaRPr>
          </a:p>
          <a:p>
            <a:pPr algn="l">
              <a:lnSpc>
                <a:spcPts val="2143"/>
              </a:lnSpc>
              <a:spcBef>
                <a:spcPts val="300"/>
              </a:spcBef>
              <a:spcAft>
                <a:spcPts val="1029"/>
              </a:spcAft>
              <a:buFont typeface="Arial" panose="020B0604020202020204" pitchFamily="34" charset="0"/>
              <a:buChar char="•"/>
            </a:pPr>
            <a:r>
              <a:rPr lang="en-US" b="1" i="0" dirty="0">
                <a:solidFill>
                  <a:srgbClr val="F8FAFF"/>
                </a:solidFill>
                <a:effectLst/>
                <a:latin typeface="Times New Roman" panose="02020603050405020304" pitchFamily="18" charset="0"/>
                <a:cs typeface="Times New Roman" panose="02020603050405020304" pitchFamily="18" charset="0"/>
              </a:rPr>
              <a:t>Key Innovation</a:t>
            </a:r>
            <a:r>
              <a:rPr lang="en-US" b="0" i="0" dirty="0">
                <a:solidFill>
                  <a:srgbClr val="F8FAFF"/>
                </a:solidFill>
                <a:effectLst/>
                <a:latin typeface="Times New Roman" panose="02020603050405020304" pitchFamily="18" charset="0"/>
                <a:cs typeface="Times New Roman" panose="02020603050405020304" pitchFamily="18" charset="0"/>
              </a:rPr>
              <a:t>: CO₂-yield threshold detection (e.g., wheat plateaus at 520 ppm)</a:t>
            </a:r>
          </a:p>
        </p:txBody>
      </p:sp>
    </p:spTree>
    <p:extLst>
      <p:ext uri="{BB962C8B-B14F-4D97-AF65-F5344CB8AC3E}">
        <p14:creationId xmlns:p14="http://schemas.microsoft.com/office/powerpoint/2010/main" val="37427945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AF63B-D4ED-A098-68F1-51E45F4F5FEF}"/>
            </a:ext>
          </a:extLst>
        </p:cNvPr>
        <p:cNvGrpSpPr/>
        <p:nvPr/>
      </p:nvGrpSpPr>
      <p:grpSpPr>
        <a:xfrm>
          <a:off x="0" y="0"/>
          <a:ext cx="0" cy="0"/>
          <a:chOff x="0" y="0"/>
          <a:chExt cx="0" cy="0"/>
        </a:xfrm>
      </p:grpSpPr>
      <p:pic>
        <p:nvPicPr>
          <p:cNvPr id="8" name="Picture 7" descr="A green field with trees and a river&#10;&#10;AI-generated content may be incorrect.">
            <a:extLst>
              <a:ext uri="{FF2B5EF4-FFF2-40B4-BE49-F238E27FC236}">
                <a16:creationId xmlns:a16="http://schemas.microsoft.com/office/drawing/2014/main" id="{202C33BD-2C31-3CB4-1A03-5610FE9A04C7}"/>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6467" b="16152"/>
          <a:stretch/>
        </p:blipFill>
        <p:spPr>
          <a:xfrm>
            <a:off x="20" y="2030"/>
            <a:ext cx="12191980" cy="6855970"/>
          </a:xfrm>
          <a:prstGeom prst="rect">
            <a:avLst/>
          </a:prstGeom>
        </p:spPr>
      </p:pic>
      <p:sp>
        <p:nvSpPr>
          <p:cNvPr id="2" name="Title 1">
            <a:extLst>
              <a:ext uri="{FF2B5EF4-FFF2-40B4-BE49-F238E27FC236}">
                <a16:creationId xmlns:a16="http://schemas.microsoft.com/office/drawing/2014/main" id="{555945A2-D256-E81A-B772-EB87A884947F}"/>
              </a:ext>
            </a:extLst>
          </p:cNvPr>
          <p:cNvSpPr>
            <a:spLocks noGrp="1"/>
          </p:cNvSpPr>
          <p:nvPr>
            <p:ph type="title"/>
          </p:nvPr>
        </p:nvSpPr>
        <p:spPr>
          <a:xfrm>
            <a:off x="753009" y="120371"/>
            <a:ext cx="10353761" cy="1326321"/>
          </a:xfrm>
        </p:spPr>
        <p:txBody>
          <a:bodyPr>
            <a:normAutofit/>
          </a:bodyPr>
          <a:lstStyle/>
          <a:p>
            <a:r>
              <a:rPr lang="en-US" dirty="0">
                <a:latin typeface="Times New Roman" panose="02020603050405020304" pitchFamily="18" charset="0"/>
                <a:cs typeface="Times New Roman" panose="02020603050405020304" pitchFamily="18" charset="0"/>
              </a:rPr>
              <a:t>Proposed Solution</a:t>
            </a:r>
          </a:p>
        </p:txBody>
      </p:sp>
      <p:sp>
        <p:nvSpPr>
          <p:cNvPr id="3" name="Rectangle 1">
            <a:extLst>
              <a:ext uri="{FF2B5EF4-FFF2-40B4-BE49-F238E27FC236}">
                <a16:creationId xmlns:a16="http://schemas.microsoft.com/office/drawing/2014/main" id="{E39DB91A-206A-C9D4-A513-D5E0439A1438}"/>
              </a:ext>
            </a:extLst>
          </p:cNvPr>
          <p:cNvSpPr>
            <a:spLocks noGrp="1" noChangeArrowheads="1"/>
          </p:cNvSpPr>
          <p:nvPr>
            <p:ph idx="1"/>
          </p:nvPr>
        </p:nvSpPr>
        <p:spPr bwMode="auto">
          <a:xfrm>
            <a:off x="269632" y="1291785"/>
            <a:ext cx="11379754" cy="599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l">
              <a:lnSpc>
                <a:spcPts val="2143"/>
              </a:lnSpc>
              <a:spcBef>
                <a:spcPts val="1372"/>
              </a:spcBef>
              <a:spcAft>
                <a:spcPts val="1029"/>
              </a:spcAft>
              <a:buNone/>
            </a:pPr>
            <a:r>
              <a:rPr lang="en-US" b="1" i="0" dirty="0">
                <a:solidFill>
                  <a:srgbClr val="F8FAFF"/>
                </a:solidFill>
                <a:effectLst/>
                <a:latin typeface="Times New Roman" panose="02020603050405020304" pitchFamily="18" charset="0"/>
                <a:cs typeface="Times New Roman" panose="02020603050405020304" pitchFamily="18" charset="0"/>
              </a:rPr>
              <a:t>  3. Actionable Outputs</a:t>
            </a:r>
            <a:endParaRPr lang="en-US" b="0" i="0" dirty="0">
              <a:solidFill>
                <a:srgbClr val="F8FAFF"/>
              </a:solidFill>
              <a:effectLst/>
              <a:latin typeface="Times New Roman" panose="02020603050405020304" pitchFamily="18" charset="0"/>
              <a:cs typeface="Times New Roman" panose="02020603050405020304" pitchFamily="18" charset="0"/>
            </a:endParaRPr>
          </a:p>
          <a:p>
            <a:pPr algn="l">
              <a:lnSpc>
                <a:spcPts val="2143"/>
              </a:lnSpc>
              <a:spcBef>
                <a:spcPts val="1029"/>
              </a:spcBef>
              <a:spcAft>
                <a:spcPts val="300"/>
              </a:spcAft>
              <a:buFont typeface="Arial" panose="020B0604020202020204" pitchFamily="34" charset="0"/>
              <a:buChar char="•"/>
            </a:pPr>
            <a:r>
              <a:rPr lang="en-US" b="1" i="0" dirty="0">
                <a:solidFill>
                  <a:srgbClr val="F8FAFF"/>
                </a:solidFill>
                <a:effectLst/>
                <a:latin typeface="Times New Roman" panose="02020603050405020304" pitchFamily="18" charset="0"/>
                <a:cs typeface="Times New Roman" panose="02020603050405020304" pitchFamily="18" charset="0"/>
              </a:rPr>
              <a:t>For Farmers</a:t>
            </a:r>
            <a:r>
              <a:rPr lang="en-US" b="0" i="0" dirty="0">
                <a:solidFill>
                  <a:srgbClr val="F8FAFF"/>
                </a:solidFill>
                <a:effectLst/>
                <a:latin typeface="Times New Roman" panose="02020603050405020304" pitchFamily="18" charset="0"/>
                <a:cs typeface="Times New Roman" panose="02020603050405020304" pitchFamily="18" charset="0"/>
              </a:rPr>
              <a:t>:</a:t>
            </a:r>
          </a:p>
          <a:p>
            <a:pPr marL="742950" lvl="1" indent="-285750" algn="l">
              <a:lnSpc>
                <a:spcPts val="2143"/>
              </a:lnSpc>
              <a:spcBef>
                <a:spcPts val="300"/>
              </a:spcBef>
              <a:spcAft>
                <a:spcPts val="1029"/>
              </a:spcAft>
              <a:buFont typeface="Arial" panose="020B0604020202020204" pitchFamily="34" charset="0"/>
              <a:buChar char="•"/>
            </a:pPr>
            <a:r>
              <a:rPr lang="en-US" b="0" i="0" dirty="0">
                <a:solidFill>
                  <a:srgbClr val="F8FAFF"/>
                </a:solidFill>
                <a:effectLst/>
                <a:latin typeface="Times New Roman" panose="02020603050405020304" pitchFamily="18" charset="0"/>
                <a:cs typeface="Times New Roman" panose="02020603050405020304" pitchFamily="18" charset="0"/>
              </a:rPr>
              <a:t>Crop-switch recommendations (e.g., "Replace maize with soybean in drought zones")</a:t>
            </a:r>
          </a:p>
          <a:p>
            <a:pPr marL="742950" lvl="1" indent="-285750" algn="l">
              <a:lnSpc>
                <a:spcPts val="2143"/>
              </a:lnSpc>
              <a:spcBef>
                <a:spcPts val="300"/>
              </a:spcBef>
              <a:spcAft>
                <a:spcPts val="1029"/>
              </a:spcAft>
              <a:buFont typeface="Arial" panose="020B0604020202020204" pitchFamily="34" charset="0"/>
              <a:buChar char="•"/>
            </a:pPr>
            <a:r>
              <a:rPr lang="en-US" b="0" i="0" dirty="0">
                <a:solidFill>
                  <a:srgbClr val="F8FAFF"/>
                </a:solidFill>
                <a:effectLst/>
                <a:latin typeface="Times New Roman" panose="02020603050405020304" pitchFamily="18" charset="0"/>
                <a:cs typeface="Times New Roman" panose="02020603050405020304" pitchFamily="18" charset="0"/>
              </a:rPr>
              <a:t>Ideal planting schedules based on local climate forecasts</a:t>
            </a:r>
          </a:p>
          <a:p>
            <a:pPr algn="l">
              <a:lnSpc>
                <a:spcPts val="2143"/>
              </a:lnSpc>
              <a:spcBef>
                <a:spcPts val="300"/>
              </a:spcBef>
              <a:spcAft>
                <a:spcPts val="300"/>
              </a:spcAft>
              <a:buFont typeface="Arial" panose="020B0604020202020204" pitchFamily="34" charset="0"/>
              <a:buChar char="•"/>
            </a:pPr>
            <a:r>
              <a:rPr lang="en-US" b="1" i="0" dirty="0">
                <a:solidFill>
                  <a:srgbClr val="F8FAFF"/>
                </a:solidFill>
                <a:effectLst/>
                <a:latin typeface="Times New Roman" panose="02020603050405020304" pitchFamily="18" charset="0"/>
                <a:cs typeface="Times New Roman" panose="02020603050405020304" pitchFamily="18" charset="0"/>
              </a:rPr>
              <a:t>For Policymakers</a:t>
            </a:r>
            <a:r>
              <a:rPr lang="en-US" b="0" i="0" dirty="0">
                <a:solidFill>
                  <a:srgbClr val="F8FAFF"/>
                </a:solidFill>
                <a:effectLst/>
                <a:latin typeface="Times New Roman" panose="02020603050405020304" pitchFamily="18" charset="0"/>
                <a:cs typeface="Times New Roman" panose="02020603050405020304" pitchFamily="18" charset="0"/>
              </a:rPr>
              <a:t>:</a:t>
            </a:r>
          </a:p>
          <a:p>
            <a:pPr marL="742950" lvl="1" indent="-285750" algn="l">
              <a:lnSpc>
                <a:spcPts val="2143"/>
              </a:lnSpc>
              <a:spcBef>
                <a:spcPts val="300"/>
              </a:spcBef>
              <a:spcAft>
                <a:spcPts val="1029"/>
              </a:spcAft>
              <a:buFont typeface="Arial" panose="020B0604020202020204" pitchFamily="34" charset="0"/>
              <a:buChar char="•"/>
            </a:pPr>
            <a:r>
              <a:rPr lang="en-US" b="0" i="0" dirty="0">
                <a:solidFill>
                  <a:srgbClr val="F8FAFF"/>
                </a:solidFill>
                <a:effectLst/>
                <a:latin typeface="Times New Roman" panose="02020603050405020304" pitchFamily="18" charset="0"/>
                <a:cs typeface="Times New Roman" panose="02020603050405020304" pitchFamily="18" charset="0"/>
              </a:rPr>
              <a:t>Risk heatmaps for targeted subsidies</a:t>
            </a:r>
          </a:p>
          <a:p>
            <a:pPr marL="742950" lvl="1" indent="-285750" algn="l">
              <a:lnSpc>
                <a:spcPts val="2143"/>
              </a:lnSpc>
              <a:spcBef>
                <a:spcPts val="300"/>
              </a:spcBef>
              <a:spcAft>
                <a:spcPts val="1029"/>
              </a:spcAft>
              <a:buFont typeface="Arial" panose="020B0604020202020204" pitchFamily="34" charset="0"/>
              <a:buChar char="•"/>
            </a:pPr>
            <a:r>
              <a:rPr lang="en-US" b="0" i="0" dirty="0">
                <a:solidFill>
                  <a:srgbClr val="F8FAFF"/>
                </a:solidFill>
                <a:effectLst/>
                <a:latin typeface="Times New Roman" panose="02020603050405020304" pitchFamily="18" charset="0"/>
                <a:cs typeface="Times New Roman" panose="02020603050405020304" pitchFamily="18" charset="0"/>
              </a:rPr>
              <a:t>R&amp;D priority lists (e.g., heat-tolerant maize breeding)</a:t>
            </a:r>
          </a:p>
          <a:p>
            <a:pPr algn="l">
              <a:lnSpc>
                <a:spcPts val="2143"/>
              </a:lnSpc>
              <a:spcBef>
                <a:spcPts val="1372"/>
              </a:spcBef>
              <a:spcAft>
                <a:spcPts val="1029"/>
              </a:spcAft>
              <a:buNone/>
            </a:pPr>
            <a:r>
              <a:rPr lang="en-US" b="1" i="0" dirty="0">
                <a:solidFill>
                  <a:srgbClr val="F8FAFF"/>
                </a:solidFill>
                <a:effectLst/>
                <a:latin typeface="Times New Roman" panose="02020603050405020304" pitchFamily="18" charset="0"/>
                <a:cs typeface="Times New Roman" panose="02020603050405020304" pitchFamily="18" charset="0"/>
              </a:rPr>
              <a:t>4. Architecture</a:t>
            </a:r>
            <a:endParaRPr lang="en-US" b="0" i="0" u="none" strike="noStrike" dirty="0">
              <a:solidFill>
                <a:srgbClr val="BABAC1"/>
              </a:solidFill>
              <a:effectLst/>
              <a:latin typeface="Times New Roman" panose="02020603050405020304" pitchFamily="18" charset="0"/>
              <a:cs typeface="Times New Roman" panose="02020603050405020304" pitchFamily="18" charset="0"/>
            </a:endParaRPr>
          </a:p>
          <a:p>
            <a:pPr algn="l">
              <a:lnSpc>
                <a:spcPts val="1509"/>
              </a:lnSpc>
              <a:spcAft>
                <a:spcPts val="857"/>
              </a:spcAft>
            </a:pPr>
            <a:r>
              <a:rPr lang="en-US" b="0" i="0" dirty="0">
                <a:solidFill>
                  <a:srgbClr val="FFFFFF"/>
                </a:solidFill>
                <a:effectLst/>
                <a:latin typeface="Times New Roman" panose="02020603050405020304" pitchFamily="18" charset="0"/>
                <a:cs typeface="Times New Roman" panose="02020603050405020304" pitchFamily="18" charset="0"/>
              </a:rPr>
              <a:t> [Climate Databases] →  [Preprocessing Pipeline]  →  [ML Model Hub]   →    [Decision Dashboards] </a:t>
            </a:r>
          </a:p>
          <a:p>
            <a:pPr marL="0" indent="0" algn="l">
              <a:lnSpc>
                <a:spcPts val="1509"/>
              </a:lnSpc>
              <a:spcAft>
                <a:spcPts val="857"/>
              </a:spcAft>
              <a:buNone/>
            </a:pPr>
            <a:r>
              <a:rPr lang="en-US" b="0" i="0" dirty="0">
                <a:solidFill>
                  <a:srgbClr val="FFFFFF"/>
                </a:solidFill>
                <a:effectLst/>
                <a:latin typeface="Times New Roman" panose="02020603050405020304" pitchFamily="18" charset="0"/>
                <a:cs typeface="Times New Roman" panose="02020603050405020304" pitchFamily="18" charset="0"/>
              </a:rPr>
              <a:t>	↑               		↑                                           ↑</a:t>
            </a:r>
          </a:p>
          <a:p>
            <a:pPr marL="0" indent="0" algn="l">
              <a:lnSpc>
                <a:spcPts val="1509"/>
              </a:lnSpc>
              <a:spcAft>
                <a:spcPts val="857"/>
              </a:spcAft>
              <a:buNone/>
            </a:pPr>
            <a:r>
              <a:rPr lang="en-US" b="0" i="0" dirty="0">
                <a:solidFill>
                  <a:srgbClr val="FFFFFF"/>
                </a:solidFill>
                <a:effectLst/>
                <a:latin typeface="Times New Roman" panose="02020603050405020304" pitchFamily="18" charset="0"/>
                <a:cs typeface="Times New Roman" panose="02020603050405020304" pitchFamily="18" charset="0"/>
              </a:rPr>
              <a:t>       (NASA/FAO)                   (Imputation + PCA)        (Regional Adaptations)</a:t>
            </a:r>
          </a:p>
          <a:p>
            <a:pPr>
              <a:buNone/>
            </a:pPr>
            <a:br>
              <a:rPr lang="en-US" dirty="0">
                <a:latin typeface="Times New Roman" panose="02020603050405020304" pitchFamily="18" charset="0"/>
                <a:cs typeface="Times New Roman" panose="02020603050405020304" pitchFamily="18" charset="0"/>
              </a:rPr>
            </a:b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74829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8DC93-FE09-0B61-E0FD-DF7025BBA7F0}"/>
            </a:ext>
          </a:extLst>
        </p:cNvPr>
        <p:cNvGrpSpPr/>
        <p:nvPr/>
      </p:nvGrpSpPr>
      <p:grpSpPr>
        <a:xfrm>
          <a:off x="0" y="0"/>
          <a:ext cx="0" cy="0"/>
          <a:chOff x="0" y="0"/>
          <a:chExt cx="0" cy="0"/>
        </a:xfrm>
      </p:grpSpPr>
      <p:pic>
        <p:nvPicPr>
          <p:cNvPr id="8" name="Picture 7" descr="A green field with trees and a river&#10;&#10;AI-generated content may be incorrect.">
            <a:extLst>
              <a:ext uri="{FF2B5EF4-FFF2-40B4-BE49-F238E27FC236}">
                <a16:creationId xmlns:a16="http://schemas.microsoft.com/office/drawing/2014/main" id="{E6DD0518-2193-BD2B-9ABA-97F00C9B6684}"/>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6467" b="16152"/>
          <a:stretch/>
        </p:blipFill>
        <p:spPr>
          <a:xfrm>
            <a:off x="20" y="2030"/>
            <a:ext cx="12191980" cy="6855970"/>
          </a:xfrm>
          <a:prstGeom prst="rect">
            <a:avLst/>
          </a:prstGeom>
        </p:spPr>
      </p:pic>
      <p:sp>
        <p:nvSpPr>
          <p:cNvPr id="2" name="Title 1">
            <a:extLst>
              <a:ext uri="{FF2B5EF4-FFF2-40B4-BE49-F238E27FC236}">
                <a16:creationId xmlns:a16="http://schemas.microsoft.com/office/drawing/2014/main" id="{9026161D-010A-D726-A91F-887DB437C81F}"/>
              </a:ext>
            </a:extLst>
          </p:cNvPr>
          <p:cNvSpPr>
            <a:spLocks noGrp="1"/>
          </p:cNvSpPr>
          <p:nvPr>
            <p:ph type="title"/>
          </p:nvPr>
        </p:nvSpPr>
        <p:spPr>
          <a:xfrm>
            <a:off x="913795" y="609600"/>
            <a:ext cx="10353761" cy="1326321"/>
          </a:xfrm>
        </p:spPr>
        <p:txBody>
          <a:bodyPr>
            <a:normAutofit/>
          </a:bodyPr>
          <a:lstStyle/>
          <a:p>
            <a:r>
              <a:rPr lang="en-US" dirty="0">
                <a:latin typeface="Times New Roman" panose="02020603050405020304" pitchFamily="18" charset="0"/>
                <a:cs typeface="Times New Roman" panose="02020603050405020304" pitchFamily="18" charset="0"/>
              </a:rPr>
              <a:t>RESULTS &amp; ANALYSIS </a:t>
            </a:r>
          </a:p>
        </p:txBody>
      </p:sp>
      <p:sp>
        <p:nvSpPr>
          <p:cNvPr id="3" name="Rectangle 1">
            <a:extLst>
              <a:ext uri="{FF2B5EF4-FFF2-40B4-BE49-F238E27FC236}">
                <a16:creationId xmlns:a16="http://schemas.microsoft.com/office/drawing/2014/main" id="{1D55DDCD-E791-DFE0-F38D-91402E4DB019}"/>
              </a:ext>
            </a:extLst>
          </p:cNvPr>
          <p:cNvSpPr>
            <a:spLocks noGrp="1" noChangeArrowheads="1"/>
          </p:cNvSpPr>
          <p:nvPr>
            <p:ph idx="1"/>
          </p:nvPr>
        </p:nvSpPr>
        <p:spPr bwMode="auto">
          <a:xfrm>
            <a:off x="1254598" y="1782033"/>
            <a:ext cx="10174426"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Linear Regression performed poorly (R² = 0.15, RMSE = 1.59), serving only as a baseline model.</a:t>
            </a:r>
          </a:p>
          <a:p>
            <a:pPr eaLnBrk="0" fontAlgn="base" hangingPunct="0">
              <a:lnSpc>
                <a:spcPct val="100000"/>
              </a:lnSpc>
              <a:spcBef>
                <a:spcPct val="0"/>
              </a:spcBef>
              <a:spcAft>
                <a:spcPct val="0"/>
              </a:spcAft>
            </a:pPr>
            <a:endParaRPr lang="en-US" altLang="en-US" b="1" dirty="0">
              <a:effectLst/>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endParaRPr lang="en-US" altLang="en-US" b="1" dirty="0">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endParaRPr lang="en-US" altLang="en-US" sz="2000" b="1" dirty="0">
              <a:effectLst/>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endParaRPr lang="en-US" altLang="en-US" sz="2000" b="1" dirty="0">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Findings:</a:t>
            </a:r>
            <a:b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Tree-based models outperformed linear methods by 5× in R², and were robust to outliers like drought-affected data.</a:t>
            </a:r>
            <a:b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Local delta temperature emerged as the top predictor, explaining 32% of yield variation</a:t>
            </a:r>
          </a:p>
          <a:p>
            <a:pPr marL="0" indent="0" eaLnBrk="0" fontAlgn="base" hangingPunct="0">
              <a:lnSpc>
                <a:spcPct val="100000"/>
              </a:lnSpc>
              <a:spcBef>
                <a:spcPct val="0"/>
              </a:spcBef>
              <a:spcAft>
                <a:spcPct val="0"/>
              </a:spcAft>
              <a:buNone/>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6F845160-EB35-7B9E-DA58-D0917F8716B3}"/>
              </a:ext>
            </a:extLst>
          </p:cNvPr>
          <p:cNvPicPr>
            <a:picLocks noChangeAspect="1"/>
          </p:cNvPicPr>
          <p:nvPr/>
        </p:nvPicPr>
        <p:blipFill>
          <a:blip r:embed="rId3"/>
          <a:stretch>
            <a:fillRect/>
          </a:stretch>
        </p:blipFill>
        <p:spPr>
          <a:xfrm>
            <a:off x="1482380" y="2812010"/>
            <a:ext cx="7714885" cy="961000"/>
          </a:xfrm>
          <a:prstGeom prst="rect">
            <a:avLst/>
          </a:prstGeom>
        </p:spPr>
      </p:pic>
    </p:spTree>
    <p:extLst>
      <p:ext uri="{BB962C8B-B14F-4D97-AF65-F5344CB8AC3E}">
        <p14:creationId xmlns:p14="http://schemas.microsoft.com/office/powerpoint/2010/main" val="40310038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79AC1-D489-BC07-E377-82308BA56850}"/>
            </a:ext>
          </a:extLst>
        </p:cNvPr>
        <p:cNvGrpSpPr/>
        <p:nvPr/>
      </p:nvGrpSpPr>
      <p:grpSpPr>
        <a:xfrm>
          <a:off x="0" y="0"/>
          <a:ext cx="0" cy="0"/>
          <a:chOff x="0" y="0"/>
          <a:chExt cx="0" cy="0"/>
        </a:xfrm>
      </p:grpSpPr>
      <p:pic>
        <p:nvPicPr>
          <p:cNvPr id="8" name="Picture 7" descr="A green field with trees and a river&#10;&#10;AI-generated content may be incorrect.">
            <a:extLst>
              <a:ext uri="{FF2B5EF4-FFF2-40B4-BE49-F238E27FC236}">
                <a16:creationId xmlns:a16="http://schemas.microsoft.com/office/drawing/2014/main" id="{BEB502CB-728D-BF69-6E48-5B85792F8AA2}"/>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6467" b="16152"/>
          <a:stretch/>
        </p:blipFill>
        <p:spPr>
          <a:xfrm>
            <a:off x="20" y="2030"/>
            <a:ext cx="12191980" cy="6855970"/>
          </a:xfrm>
          <a:prstGeom prst="rect">
            <a:avLst/>
          </a:prstGeom>
        </p:spPr>
      </p:pic>
      <p:sp>
        <p:nvSpPr>
          <p:cNvPr id="2" name="Title 1">
            <a:extLst>
              <a:ext uri="{FF2B5EF4-FFF2-40B4-BE49-F238E27FC236}">
                <a16:creationId xmlns:a16="http://schemas.microsoft.com/office/drawing/2014/main" id="{A6A229E9-C6DD-114D-29EF-43B2D20D141F}"/>
              </a:ext>
            </a:extLst>
          </p:cNvPr>
          <p:cNvSpPr>
            <a:spLocks noGrp="1"/>
          </p:cNvSpPr>
          <p:nvPr>
            <p:ph type="title"/>
          </p:nvPr>
        </p:nvSpPr>
        <p:spPr>
          <a:xfrm>
            <a:off x="913795" y="609600"/>
            <a:ext cx="10353761" cy="1326321"/>
          </a:xfrm>
        </p:spPr>
        <p:txBody>
          <a:bodyPr>
            <a:normAutofit/>
          </a:bodyPr>
          <a:lstStyle/>
          <a:p>
            <a:r>
              <a:rPr lang="en-US" dirty="0">
                <a:latin typeface="Times New Roman" panose="02020603050405020304" pitchFamily="18" charset="0"/>
                <a:cs typeface="Times New Roman" panose="02020603050405020304" pitchFamily="18" charset="0"/>
              </a:rPr>
              <a:t>RESULTS &amp; ANALYSIS</a:t>
            </a:r>
          </a:p>
        </p:txBody>
      </p:sp>
      <p:sp>
        <p:nvSpPr>
          <p:cNvPr id="4" name="Rectangle 2">
            <a:extLst>
              <a:ext uri="{FF2B5EF4-FFF2-40B4-BE49-F238E27FC236}">
                <a16:creationId xmlns:a16="http://schemas.microsoft.com/office/drawing/2014/main" id="{A33FF195-9E81-49FF-449A-528015625BBC}"/>
              </a:ext>
            </a:extLst>
          </p:cNvPr>
          <p:cNvSpPr>
            <a:spLocks noGrp="1" noChangeArrowheads="1"/>
          </p:cNvSpPr>
          <p:nvPr>
            <p:ph idx="1"/>
          </p:nvPr>
        </p:nvSpPr>
        <p:spPr bwMode="auto">
          <a:xfrm>
            <a:off x="1065320" y="2083471"/>
            <a:ext cx="10493405"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Performance:</a:t>
            </a:r>
            <a:b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Random Forest achieved the highest accuracy (R² = 0.77, RMSE = 0.82 t/ha) due to its ability to capture nonlinear relationships.</a:t>
            </a:r>
          </a:p>
          <a:p>
            <a:pPr eaLnBrk="0" fontAlgn="base" hangingPunct="0">
              <a:lnSpc>
                <a:spcPct val="100000"/>
              </a:lnSpc>
              <a:spcBef>
                <a:spcPct val="0"/>
              </a:spcBef>
              <a:spcAft>
                <a:spcPct val="0"/>
              </a:spcAft>
            </a:pPr>
            <a:endParaRPr lang="en-US" altLang="en-US" sz="1800" b="1" dirty="0">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endParaRPr lang="en-US" altLang="en-US" sz="1800" b="1" dirty="0">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b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XGBoost</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followed closely with R² = 0.76, excelling with sparse data.</a:t>
            </a:r>
          </a:p>
          <a:p>
            <a:pPr eaLnBrk="0" fontAlgn="base" hangingPunct="0">
              <a:lnSpc>
                <a:spcPct val="100000"/>
              </a:lnSpc>
              <a:spcBef>
                <a:spcPct val="0"/>
              </a:spcBef>
              <a:spcAft>
                <a:spcPct val="0"/>
              </a:spcAft>
            </a:pPr>
            <a:endParaRPr lang="en-US" altLang="en-US" sz="1800" b="1" dirty="0">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endParaRPr lang="en-US" altLang="en-US" sz="1800" b="1" dirty="0">
              <a:effectLst/>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BA72E813-6791-CC32-3B8D-D03BE0E57A52}"/>
              </a:ext>
            </a:extLst>
          </p:cNvPr>
          <p:cNvPicPr>
            <a:picLocks noChangeAspect="1"/>
          </p:cNvPicPr>
          <p:nvPr/>
        </p:nvPicPr>
        <p:blipFill>
          <a:blip r:embed="rId3"/>
          <a:stretch>
            <a:fillRect/>
          </a:stretch>
        </p:blipFill>
        <p:spPr>
          <a:xfrm>
            <a:off x="1336581" y="4808030"/>
            <a:ext cx="7582816" cy="1202153"/>
          </a:xfrm>
          <a:prstGeom prst="rect">
            <a:avLst/>
          </a:prstGeom>
        </p:spPr>
      </p:pic>
      <p:pic>
        <p:nvPicPr>
          <p:cNvPr id="12" name="Picture 11">
            <a:extLst>
              <a:ext uri="{FF2B5EF4-FFF2-40B4-BE49-F238E27FC236}">
                <a16:creationId xmlns:a16="http://schemas.microsoft.com/office/drawing/2014/main" id="{93103ED9-0873-3F9C-920F-9D40E85B502A}"/>
              </a:ext>
            </a:extLst>
          </p:cNvPr>
          <p:cNvPicPr>
            <a:picLocks noChangeAspect="1"/>
          </p:cNvPicPr>
          <p:nvPr/>
        </p:nvPicPr>
        <p:blipFill>
          <a:blip r:embed="rId4"/>
          <a:stretch>
            <a:fillRect/>
          </a:stretch>
        </p:blipFill>
        <p:spPr>
          <a:xfrm>
            <a:off x="1336581" y="3220307"/>
            <a:ext cx="7558844" cy="943320"/>
          </a:xfrm>
          <a:prstGeom prst="rect">
            <a:avLst/>
          </a:prstGeom>
        </p:spPr>
      </p:pic>
    </p:spTree>
    <p:extLst>
      <p:ext uri="{BB962C8B-B14F-4D97-AF65-F5344CB8AC3E}">
        <p14:creationId xmlns:p14="http://schemas.microsoft.com/office/powerpoint/2010/main" val="5879768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B2073-4148-5FBE-5F07-D1F4D47BF109}"/>
            </a:ext>
          </a:extLst>
        </p:cNvPr>
        <p:cNvGrpSpPr/>
        <p:nvPr/>
      </p:nvGrpSpPr>
      <p:grpSpPr>
        <a:xfrm>
          <a:off x="0" y="0"/>
          <a:ext cx="0" cy="0"/>
          <a:chOff x="0" y="0"/>
          <a:chExt cx="0" cy="0"/>
        </a:xfrm>
      </p:grpSpPr>
      <p:pic>
        <p:nvPicPr>
          <p:cNvPr id="8" name="Picture 7" descr="A green field with trees and a river&#10;&#10;AI-generated content may be incorrect.">
            <a:extLst>
              <a:ext uri="{FF2B5EF4-FFF2-40B4-BE49-F238E27FC236}">
                <a16:creationId xmlns:a16="http://schemas.microsoft.com/office/drawing/2014/main" id="{310AF824-02C5-8A83-31A6-BB4CBB664DF6}"/>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6467" b="16152"/>
          <a:stretch/>
        </p:blipFill>
        <p:spPr>
          <a:xfrm>
            <a:off x="20" y="2030"/>
            <a:ext cx="12191980" cy="6855970"/>
          </a:xfrm>
          <a:prstGeom prst="rect">
            <a:avLst/>
          </a:prstGeom>
        </p:spPr>
      </p:pic>
      <p:sp>
        <p:nvSpPr>
          <p:cNvPr id="2" name="Title 1">
            <a:extLst>
              <a:ext uri="{FF2B5EF4-FFF2-40B4-BE49-F238E27FC236}">
                <a16:creationId xmlns:a16="http://schemas.microsoft.com/office/drawing/2014/main" id="{D75896AE-9BF2-1B40-4369-6591EA5F725F}"/>
              </a:ext>
            </a:extLst>
          </p:cNvPr>
          <p:cNvSpPr>
            <a:spLocks noGrp="1"/>
          </p:cNvSpPr>
          <p:nvPr>
            <p:ph type="title"/>
          </p:nvPr>
        </p:nvSpPr>
        <p:spPr>
          <a:xfrm>
            <a:off x="913795" y="609600"/>
            <a:ext cx="10353761" cy="1326321"/>
          </a:xfrm>
        </p:spPr>
        <p:txBody>
          <a:bodyPr>
            <a:normAutofit/>
          </a:bodyPr>
          <a:lstStyle/>
          <a:p>
            <a:r>
              <a:rPr lang="en-US" dirty="0">
                <a:latin typeface="Times New Roman" panose="02020603050405020304" pitchFamily="18" charset="0"/>
                <a:cs typeface="Times New Roman" panose="02020603050405020304" pitchFamily="18" charset="0"/>
              </a:rPr>
              <a:t>Model Explainability with SHAP</a:t>
            </a:r>
          </a:p>
        </p:txBody>
      </p:sp>
      <p:sp>
        <p:nvSpPr>
          <p:cNvPr id="3" name="Rectangle 1">
            <a:extLst>
              <a:ext uri="{FF2B5EF4-FFF2-40B4-BE49-F238E27FC236}">
                <a16:creationId xmlns:a16="http://schemas.microsoft.com/office/drawing/2014/main" id="{772F5C1B-E762-7DE3-B1AA-780E22EB5247}"/>
              </a:ext>
            </a:extLst>
          </p:cNvPr>
          <p:cNvSpPr>
            <a:spLocks noGrp="1" noChangeArrowheads="1"/>
          </p:cNvSpPr>
          <p:nvPr>
            <p:ph idx="1"/>
          </p:nvPr>
        </p:nvSpPr>
        <p:spPr bwMode="auto">
          <a:xfrm>
            <a:off x="1242873" y="2395225"/>
            <a:ext cx="4101483" cy="2645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latin typeface="Times New Roman" panose="02020603050405020304" pitchFamily="18" charset="0"/>
                <a:cs typeface="Times New Roman" panose="02020603050405020304" pitchFamily="18" charset="0"/>
              </a:rPr>
              <a:t>Used SHAP (</a:t>
            </a:r>
            <a:r>
              <a:rPr lang="en-US" b="1" dirty="0" err="1">
                <a:latin typeface="Times New Roman" panose="02020603050405020304" pitchFamily="18" charset="0"/>
                <a:cs typeface="Times New Roman" panose="02020603050405020304" pitchFamily="18" charset="0"/>
              </a:rPr>
              <a:t>SHapley</a:t>
            </a:r>
            <a:r>
              <a:rPr lang="en-US" b="1" dirty="0">
                <a:latin typeface="Times New Roman" panose="02020603050405020304" pitchFamily="18" charset="0"/>
                <a:cs typeface="Times New Roman" panose="02020603050405020304" pitchFamily="18" charset="0"/>
              </a:rPr>
              <a:t> Additive </a:t>
            </a:r>
            <a:r>
              <a:rPr lang="en-US" b="1" dirty="0" err="1">
                <a:latin typeface="Times New Roman" panose="02020603050405020304" pitchFamily="18" charset="0"/>
                <a:cs typeface="Times New Roman" panose="02020603050405020304" pitchFamily="18" charset="0"/>
              </a:rPr>
              <a:t>exPlanations</a:t>
            </a:r>
            <a:r>
              <a:rPr lang="en-US" b="1" dirty="0">
                <a:latin typeface="Times New Roman" panose="02020603050405020304" pitchFamily="18" charset="0"/>
                <a:cs typeface="Times New Roman" panose="02020603050405020304" pitchFamily="18" charset="0"/>
              </a:rPr>
              <a:t>) to interpret model predictions, revealing that climate impact, crop type, and temperature changes are the most influential features driving yield outcomes.</a:t>
            </a:r>
          </a:p>
        </p:txBody>
      </p:sp>
      <p:pic>
        <p:nvPicPr>
          <p:cNvPr id="5" name="Picture 4">
            <a:extLst>
              <a:ext uri="{FF2B5EF4-FFF2-40B4-BE49-F238E27FC236}">
                <a16:creationId xmlns:a16="http://schemas.microsoft.com/office/drawing/2014/main" id="{7880ABB5-0F9F-AD67-6CED-4519C93702E2}"/>
              </a:ext>
            </a:extLst>
          </p:cNvPr>
          <p:cNvPicPr>
            <a:picLocks noChangeAspect="1"/>
          </p:cNvPicPr>
          <p:nvPr/>
        </p:nvPicPr>
        <p:blipFill>
          <a:blip r:embed="rId3"/>
          <a:stretch>
            <a:fillRect/>
          </a:stretch>
        </p:blipFill>
        <p:spPr>
          <a:xfrm>
            <a:off x="5827873" y="1758303"/>
            <a:ext cx="5285872" cy="4490097"/>
          </a:xfrm>
          <a:prstGeom prst="rect">
            <a:avLst/>
          </a:prstGeom>
        </p:spPr>
      </p:pic>
    </p:spTree>
    <p:extLst>
      <p:ext uri="{BB962C8B-B14F-4D97-AF65-F5344CB8AC3E}">
        <p14:creationId xmlns:p14="http://schemas.microsoft.com/office/powerpoint/2010/main" val="11451608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E05F6-070C-739F-606A-8AB909090BAF}"/>
            </a:ext>
          </a:extLst>
        </p:cNvPr>
        <p:cNvGrpSpPr/>
        <p:nvPr/>
      </p:nvGrpSpPr>
      <p:grpSpPr>
        <a:xfrm>
          <a:off x="0" y="0"/>
          <a:ext cx="0" cy="0"/>
          <a:chOff x="0" y="0"/>
          <a:chExt cx="0" cy="0"/>
        </a:xfrm>
      </p:grpSpPr>
      <p:pic>
        <p:nvPicPr>
          <p:cNvPr id="8" name="Picture 7" descr="A green field with trees and a river&#10;&#10;AI-generated content may be incorrect.">
            <a:extLst>
              <a:ext uri="{FF2B5EF4-FFF2-40B4-BE49-F238E27FC236}">
                <a16:creationId xmlns:a16="http://schemas.microsoft.com/office/drawing/2014/main" id="{46A0B913-E245-A8D6-926E-7EDAFDDCF0E9}"/>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6467" b="16152"/>
          <a:stretch/>
        </p:blipFill>
        <p:spPr>
          <a:xfrm>
            <a:off x="20" y="2030"/>
            <a:ext cx="12191980" cy="6855970"/>
          </a:xfrm>
          <a:prstGeom prst="rect">
            <a:avLst/>
          </a:prstGeom>
        </p:spPr>
      </p:pic>
      <p:sp>
        <p:nvSpPr>
          <p:cNvPr id="2" name="Title 1">
            <a:extLst>
              <a:ext uri="{FF2B5EF4-FFF2-40B4-BE49-F238E27FC236}">
                <a16:creationId xmlns:a16="http://schemas.microsoft.com/office/drawing/2014/main" id="{FE0F3BF2-0345-5EAE-3DB5-5FB7CFB865A9}"/>
              </a:ext>
            </a:extLst>
          </p:cNvPr>
          <p:cNvSpPr>
            <a:spLocks noGrp="1"/>
          </p:cNvSpPr>
          <p:nvPr>
            <p:ph type="title"/>
          </p:nvPr>
        </p:nvSpPr>
        <p:spPr>
          <a:xfrm>
            <a:off x="913795" y="609600"/>
            <a:ext cx="10353761" cy="1326321"/>
          </a:xfrm>
        </p:spPr>
        <p:txBody>
          <a:bodyPr>
            <a:normAutofit/>
          </a:bodyPr>
          <a:lstStyle/>
          <a:p>
            <a:pPr algn="l">
              <a:spcBef>
                <a:spcPts val="1372"/>
              </a:spcBef>
              <a:spcAft>
                <a:spcPts val="1029"/>
              </a:spcAft>
              <a:buNone/>
            </a:pPr>
            <a:r>
              <a:rPr lang="en-US" b="1" i="0" dirty="0">
                <a:solidFill>
                  <a:srgbClr val="F8FAFF"/>
                </a:solidFill>
                <a:effectLst/>
                <a:latin typeface="Times New Roman" panose="02020603050405020304" pitchFamily="18" charset="0"/>
                <a:cs typeface="Times New Roman" panose="02020603050405020304" pitchFamily="18" charset="0"/>
              </a:rPr>
              <a:t>Critical Findings</a:t>
            </a:r>
            <a:endParaRPr lang="en-US" b="0" i="0" dirty="0">
              <a:solidFill>
                <a:srgbClr val="F8FAFF"/>
              </a:solidFill>
              <a:effectLst/>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0D2084D4-3424-55C8-7A14-E003E35660DD}"/>
              </a:ext>
            </a:extLst>
          </p:cNvPr>
          <p:cNvSpPr>
            <a:spLocks noGrp="1" noChangeArrowheads="1"/>
          </p:cNvSpPr>
          <p:nvPr>
            <p:ph idx="1"/>
          </p:nvPr>
        </p:nvSpPr>
        <p:spPr bwMode="auto">
          <a:xfrm>
            <a:off x="801946" y="1809599"/>
            <a:ext cx="9924669" cy="4197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l">
              <a:lnSpc>
                <a:spcPts val="2143"/>
              </a:lnSpc>
              <a:spcBef>
                <a:spcPts val="1029"/>
              </a:spcBef>
              <a:spcAft>
                <a:spcPts val="300"/>
              </a:spcAft>
              <a:buFont typeface="Arial" panose="020B0604020202020204" pitchFamily="34" charset="0"/>
              <a:buChar char="•"/>
            </a:pPr>
            <a:r>
              <a:rPr lang="en-US" b="1" i="0" dirty="0">
                <a:solidFill>
                  <a:srgbClr val="F8FAFF"/>
                </a:solidFill>
                <a:effectLst/>
                <a:latin typeface="Times New Roman" panose="02020603050405020304" pitchFamily="18" charset="0"/>
                <a:cs typeface="Times New Roman" panose="02020603050405020304" pitchFamily="18" charset="0"/>
              </a:rPr>
              <a:t>Top Predictors</a:t>
            </a:r>
            <a:r>
              <a:rPr lang="en-US" b="0" i="0" dirty="0">
                <a:solidFill>
                  <a:srgbClr val="F8FAFF"/>
                </a:solidFill>
                <a:effectLst/>
                <a:latin typeface="Times New Roman" panose="02020603050405020304" pitchFamily="18" charset="0"/>
                <a:cs typeface="Times New Roman" panose="02020603050405020304" pitchFamily="18" charset="0"/>
              </a:rPr>
              <a:t>:</a:t>
            </a:r>
          </a:p>
          <a:p>
            <a:pPr marL="742950" lvl="1" indent="-285750" algn="l">
              <a:lnSpc>
                <a:spcPts val="2143"/>
              </a:lnSpc>
              <a:spcBef>
                <a:spcPts val="300"/>
              </a:spcBef>
              <a:spcAft>
                <a:spcPts val="1029"/>
              </a:spcAft>
              <a:buFont typeface="Arial" panose="020B0604020202020204" pitchFamily="34" charset="0"/>
              <a:buChar char="•"/>
            </a:pPr>
            <a:r>
              <a:rPr lang="en-US" b="0" i="0" dirty="0">
                <a:solidFill>
                  <a:srgbClr val="F8FAFF"/>
                </a:solidFill>
                <a:effectLst/>
                <a:latin typeface="Times New Roman" panose="02020603050405020304" pitchFamily="18" charset="0"/>
                <a:cs typeface="Times New Roman" panose="02020603050405020304" pitchFamily="18" charset="0"/>
              </a:rPr>
              <a:t>Local temperature change (</a:t>
            </a:r>
            <a:r>
              <a:rPr lang="en-US" b="1" i="0" dirty="0">
                <a:solidFill>
                  <a:srgbClr val="F8FAFF"/>
                </a:solidFill>
                <a:effectLst/>
                <a:latin typeface="Times New Roman" panose="02020603050405020304" pitchFamily="18" charset="0"/>
                <a:cs typeface="Times New Roman" panose="02020603050405020304" pitchFamily="18" charset="0"/>
              </a:rPr>
              <a:t>32%</a:t>
            </a:r>
            <a:r>
              <a:rPr lang="en-US" b="0" i="0" dirty="0">
                <a:solidFill>
                  <a:srgbClr val="F8FAFF"/>
                </a:solidFill>
                <a:effectLst/>
                <a:latin typeface="Times New Roman" panose="02020603050405020304" pitchFamily="18" charset="0"/>
                <a:cs typeface="Times New Roman" panose="02020603050405020304" pitchFamily="18" charset="0"/>
              </a:rPr>
              <a:t> impact)</a:t>
            </a:r>
          </a:p>
          <a:p>
            <a:pPr marL="742950" lvl="1" indent="-285750" algn="l">
              <a:lnSpc>
                <a:spcPts val="2143"/>
              </a:lnSpc>
              <a:spcBef>
                <a:spcPts val="300"/>
              </a:spcBef>
              <a:spcAft>
                <a:spcPts val="1029"/>
              </a:spcAft>
              <a:buFont typeface="Arial" panose="020B0604020202020204" pitchFamily="34" charset="0"/>
              <a:buChar char="•"/>
            </a:pPr>
            <a:r>
              <a:rPr lang="en-US" b="0" i="0" dirty="0">
                <a:solidFill>
                  <a:srgbClr val="F8FAFF"/>
                </a:solidFill>
                <a:effectLst/>
                <a:latin typeface="Times New Roman" panose="02020603050405020304" pitchFamily="18" charset="0"/>
                <a:cs typeface="Times New Roman" panose="02020603050405020304" pitchFamily="18" charset="0"/>
              </a:rPr>
              <a:t>CO₂ levels (</a:t>
            </a:r>
            <a:r>
              <a:rPr lang="en-US" b="1" i="0" dirty="0">
                <a:solidFill>
                  <a:srgbClr val="F8FAFF"/>
                </a:solidFill>
                <a:effectLst/>
                <a:latin typeface="Times New Roman" panose="02020603050405020304" pitchFamily="18" charset="0"/>
                <a:cs typeface="Times New Roman" panose="02020603050405020304" pitchFamily="18" charset="0"/>
              </a:rPr>
              <a:t>18%</a:t>
            </a:r>
            <a:r>
              <a:rPr lang="en-US" b="0" i="0" dirty="0">
                <a:solidFill>
                  <a:srgbClr val="F8FAFF"/>
                </a:solidFill>
                <a:effectLst/>
                <a:latin typeface="Times New Roman" panose="02020603050405020304" pitchFamily="18" charset="0"/>
                <a:cs typeface="Times New Roman" panose="02020603050405020304" pitchFamily="18" charset="0"/>
              </a:rPr>
              <a:t>)</a:t>
            </a:r>
          </a:p>
          <a:p>
            <a:pPr marL="742950" lvl="1" indent="-285750" algn="l">
              <a:lnSpc>
                <a:spcPts val="2143"/>
              </a:lnSpc>
              <a:spcBef>
                <a:spcPts val="300"/>
              </a:spcBef>
              <a:spcAft>
                <a:spcPts val="1029"/>
              </a:spcAft>
              <a:buFont typeface="Arial" panose="020B0604020202020204" pitchFamily="34" charset="0"/>
              <a:buChar char="•"/>
            </a:pPr>
            <a:r>
              <a:rPr lang="en-US" b="0" i="0" dirty="0">
                <a:solidFill>
                  <a:srgbClr val="F8FAFF"/>
                </a:solidFill>
                <a:effectLst/>
                <a:latin typeface="Times New Roman" panose="02020603050405020304" pitchFamily="18" charset="0"/>
                <a:cs typeface="Times New Roman" panose="02020603050405020304" pitchFamily="18" charset="0"/>
              </a:rPr>
              <a:t>Precipitation shifts (</a:t>
            </a:r>
            <a:r>
              <a:rPr lang="en-US" b="1" i="0" dirty="0">
                <a:solidFill>
                  <a:srgbClr val="F8FAFF"/>
                </a:solidFill>
                <a:effectLst/>
                <a:latin typeface="Times New Roman" panose="02020603050405020304" pitchFamily="18" charset="0"/>
                <a:cs typeface="Times New Roman" panose="02020603050405020304" pitchFamily="18" charset="0"/>
              </a:rPr>
              <a:t>15%</a:t>
            </a:r>
            <a:r>
              <a:rPr lang="en-US" b="0" i="0" dirty="0">
                <a:solidFill>
                  <a:srgbClr val="F8FAFF"/>
                </a:solidFill>
                <a:effectLst/>
                <a:latin typeface="Times New Roman" panose="02020603050405020304" pitchFamily="18" charset="0"/>
                <a:cs typeface="Times New Roman" panose="02020603050405020304" pitchFamily="18" charset="0"/>
              </a:rPr>
              <a:t>)</a:t>
            </a:r>
          </a:p>
          <a:p>
            <a:pPr marL="457200" lvl="1" indent="0" algn="l">
              <a:lnSpc>
                <a:spcPts val="2143"/>
              </a:lnSpc>
              <a:spcBef>
                <a:spcPts val="300"/>
              </a:spcBef>
              <a:spcAft>
                <a:spcPts val="1029"/>
              </a:spcAft>
              <a:buNone/>
            </a:pPr>
            <a:endParaRPr lang="en-US" b="0" i="0" dirty="0">
              <a:solidFill>
                <a:srgbClr val="F8FAFF"/>
              </a:solidFill>
              <a:effectLst/>
              <a:latin typeface="Times New Roman" panose="02020603050405020304" pitchFamily="18" charset="0"/>
              <a:cs typeface="Times New Roman" panose="02020603050405020304" pitchFamily="18" charset="0"/>
            </a:endParaRPr>
          </a:p>
          <a:p>
            <a:pPr algn="l">
              <a:lnSpc>
                <a:spcPts val="2143"/>
              </a:lnSpc>
              <a:spcBef>
                <a:spcPts val="300"/>
              </a:spcBef>
              <a:spcAft>
                <a:spcPts val="300"/>
              </a:spcAft>
              <a:buFont typeface="Arial" panose="020B0604020202020204" pitchFamily="34" charset="0"/>
              <a:buChar char="•"/>
            </a:pPr>
            <a:r>
              <a:rPr lang="en-US" b="1" i="0" dirty="0">
                <a:solidFill>
                  <a:srgbClr val="F8FAFF"/>
                </a:solidFill>
                <a:effectLst/>
                <a:latin typeface="Times New Roman" panose="02020603050405020304" pitchFamily="18" charset="0"/>
                <a:cs typeface="Times New Roman" panose="02020603050405020304" pitchFamily="18" charset="0"/>
              </a:rPr>
              <a:t>Regional Risks</a:t>
            </a:r>
            <a:r>
              <a:rPr lang="en-US" b="0" i="0" dirty="0">
                <a:solidFill>
                  <a:srgbClr val="F8FAFF"/>
                </a:solidFill>
                <a:effectLst/>
                <a:latin typeface="Times New Roman" panose="02020603050405020304" pitchFamily="18" charset="0"/>
                <a:cs typeface="Times New Roman" panose="02020603050405020304" pitchFamily="18" charset="0"/>
              </a:rPr>
              <a:t>:</a:t>
            </a:r>
          </a:p>
          <a:p>
            <a:pPr marL="742950" lvl="1" indent="-285750" algn="l">
              <a:lnSpc>
                <a:spcPts val="2143"/>
              </a:lnSpc>
              <a:spcBef>
                <a:spcPts val="300"/>
              </a:spcBef>
              <a:spcAft>
                <a:spcPts val="1029"/>
              </a:spcAft>
              <a:buFont typeface="Arial" panose="020B0604020202020204" pitchFamily="34" charset="0"/>
              <a:buChar char="•"/>
            </a:pPr>
            <a:r>
              <a:rPr lang="en-US" b="0" i="0" dirty="0">
                <a:solidFill>
                  <a:srgbClr val="F8FAFF"/>
                </a:solidFill>
                <a:effectLst/>
                <a:latin typeface="Times New Roman" panose="02020603050405020304" pitchFamily="18" charset="0"/>
                <a:cs typeface="Times New Roman" panose="02020603050405020304" pitchFamily="18" charset="0"/>
              </a:rPr>
              <a:t>Africa: Maize at </a:t>
            </a:r>
            <a:r>
              <a:rPr lang="en-US" b="1" i="0" dirty="0">
                <a:solidFill>
                  <a:srgbClr val="F8FAFF"/>
                </a:solidFill>
                <a:effectLst/>
                <a:latin typeface="Times New Roman" panose="02020603050405020304" pitchFamily="18" charset="0"/>
                <a:cs typeface="Times New Roman" panose="02020603050405020304" pitchFamily="18" charset="0"/>
              </a:rPr>
              <a:t>-17.5%</a:t>
            </a:r>
            <a:r>
              <a:rPr lang="en-US" b="0" i="0" dirty="0">
                <a:solidFill>
                  <a:srgbClr val="F8FAFF"/>
                </a:solidFill>
                <a:effectLst/>
                <a:latin typeface="Times New Roman" panose="02020603050405020304" pitchFamily="18" charset="0"/>
                <a:cs typeface="Times New Roman" panose="02020603050405020304" pitchFamily="18" charset="0"/>
              </a:rPr>
              <a:t> yield risk</a:t>
            </a:r>
          </a:p>
          <a:p>
            <a:pPr marL="742950" lvl="1" indent="-285750" algn="l">
              <a:lnSpc>
                <a:spcPts val="2143"/>
              </a:lnSpc>
              <a:spcBef>
                <a:spcPts val="300"/>
              </a:spcBef>
              <a:spcAft>
                <a:spcPts val="1029"/>
              </a:spcAft>
              <a:buFont typeface="Arial" panose="020B0604020202020204" pitchFamily="34" charset="0"/>
              <a:buChar char="•"/>
            </a:pPr>
            <a:r>
              <a:rPr lang="en-US" b="0" i="0" dirty="0">
                <a:solidFill>
                  <a:srgbClr val="F8FAFF"/>
                </a:solidFill>
                <a:effectLst/>
                <a:latin typeface="Times New Roman" panose="02020603050405020304" pitchFamily="18" charset="0"/>
                <a:cs typeface="Times New Roman" panose="02020603050405020304" pitchFamily="18" charset="0"/>
              </a:rPr>
              <a:t>Asia: Soybean most resilient (</a:t>
            </a:r>
            <a:r>
              <a:rPr lang="en-US" b="1" i="0" dirty="0">
                <a:solidFill>
                  <a:srgbClr val="F8FAFF"/>
                </a:solidFill>
                <a:effectLst/>
                <a:latin typeface="Times New Roman" panose="02020603050405020304" pitchFamily="18" charset="0"/>
                <a:cs typeface="Times New Roman" panose="02020603050405020304" pitchFamily="18" charset="0"/>
              </a:rPr>
              <a:t>-24.2%</a:t>
            </a:r>
            <a:r>
              <a:rPr lang="en-US" b="0" i="0" dirty="0">
                <a:solidFill>
                  <a:srgbClr val="F8FAFF"/>
                </a:solidFill>
                <a:effectLst/>
                <a:latin typeface="Times New Roman" panose="02020603050405020304" pitchFamily="18" charset="0"/>
                <a:cs typeface="Times New Roman" panose="02020603050405020304" pitchFamily="18" charset="0"/>
              </a:rPr>
              <a:t> impact)</a:t>
            </a:r>
          </a:p>
          <a:p>
            <a:pPr>
              <a:buNone/>
            </a:pPr>
            <a:br>
              <a:rPr lang="en-US"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93807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8613D-460B-A165-1AAC-D7A1596F3E4C}"/>
            </a:ext>
          </a:extLst>
        </p:cNvPr>
        <p:cNvGrpSpPr/>
        <p:nvPr/>
      </p:nvGrpSpPr>
      <p:grpSpPr>
        <a:xfrm>
          <a:off x="0" y="0"/>
          <a:ext cx="0" cy="0"/>
          <a:chOff x="0" y="0"/>
          <a:chExt cx="0" cy="0"/>
        </a:xfrm>
      </p:grpSpPr>
      <p:pic>
        <p:nvPicPr>
          <p:cNvPr id="8" name="Picture 7" descr="A green field with trees and a river&#10;&#10;AI-generated content may be incorrect.">
            <a:extLst>
              <a:ext uri="{FF2B5EF4-FFF2-40B4-BE49-F238E27FC236}">
                <a16:creationId xmlns:a16="http://schemas.microsoft.com/office/drawing/2014/main" id="{A42D3C9B-704E-59AD-649E-A0614E41C301}"/>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6467" b="16152"/>
          <a:stretch/>
        </p:blipFill>
        <p:spPr>
          <a:xfrm>
            <a:off x="20" y="2030"/>
            <a:ext cx="12191980" cy="6855970"/>
          </a:xfrm>
          <a:prstGeom prst="rect">
            <a:avLst/>
          </a:prstGeom>
        </p:spPr>
      </p:pic>
      <p:sp>
        <p:nvSpPr>
          <p:cNvPr id="2" name="Title 1">
            <a:extLst>
              <a:ext uri="{FF2B5EF4-FFF2-40B4-BE49-F238E27FC236}">
                <a16:creationId xmlns:a16="http://schemas.microsoft.com/office/drawing/2014/main" id="{12592329-AEFF-43F0-C4F6-0C77B5734731}"/>
              </a:ext>
            </a:extLst>
          </p:cNvPr>
          <p:cNvSpPr>
            <a:spLocks noGrp="1"/>
          </p:cNvSpPr>
          <p:nvPr>
            <p:ph type="title"/>
          </p:nvPr>
        </p:nvSpPr>
        <p:spPr>
          <a:xfrm>
            <a:off x="913795" y="609600"/>
            <a:ext cx="10353761" cy="1326321"/>
          </a:xfrm>
        </p:spPr>
        <p:txBody>
          <a:bodyPr>
            <a:normAutofit/>
          </a:bodyPr>
          <a:lstStyle/>
          <a:p>
            <a:pPr algn="l">
              <a:spcBef>
                <a:spcPts val="1372"/>
              </a:spcBef>
              <a:spcAft>
                <a:spcPts val="1029"/>
              </a:spcAft>
            </a:pPr>
            <a:r>
              <a:rPr lang="en-US" b="1" i="0" dirty="0">
                <a:solidFill>
                  <a:srgbClr val="F8FAFF"/>
                </a:solidFill>
                <a:effectLst/>
                <a:latin typeface="Times New Roman" panose="02020603050405020304" pitchFamily="18" charset="0"/>
                <a:cs typeface="Times New Roman" panose="02020603050405020304" pitchFamily="18" charset="0"/>
              </a:rPr>
              <a:t>Recommendations</a:t>
            </a:r>
            <a:endParaRPr lang="en-US" b="0" i="0" dirty="0">
              <a:solidFill>
                <a:srgbClr val="F8FAFF"/>
              </a:solidFill>
              <a:effectLst/>
              <a:latin typeface="Times New Roman" panose="02020603050405020304" pitchFamily="18" charset="0"/>
              <a:cs typeface="Times New Roman" panose="02020603050405020304" pitchFamily="18" charset="0"/>
            </a:endParaRPr>
          </a:p>
        </p:txBody>
      </p:sp>
      <p:pic>
        <p:nvPicPr>
          <p:cNvPr id="6" name="Picture 5" descr="A graph with blue and green dots&#10;&#10;AI-generated content may be incorrect.">
            <a:extLst>
              <a:ext uri="{FF2B5EF4-FFF2-40B4-BE49-F238E27FC236}">
                <a16:creationId xmlns:a16="http://schemas.microsoft.com/office/drawing/2014/main" id="{EDF77093-4831-E69B-0D91-27D0D138D4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3800" y="3144778"/>
            <a:ext cx="5645261" cy="3554604"/>
          </a:xfrm>
          <a:prstGeom prst="rect">
            <a:avLst/>
          </a:prstGeom>
        </p:spPr>
      </p:pic>
      <p:pic>
        <p:nvPicPr>
          <p:cNvPr id="9" name="Picture 8" descr="A screenshot of a data&#10;&#10;AI-generated content may be incorrect.">
            <a:extLst>
              <a:ext uri="{FF2B5EF4-FFF2-40B4-BE49-F238E27FC236}">
                <a16:creationId xmlns:a16="http://schemas.microsoft.com/office/drawing/2014/main" id="{F85CF69E-FED9-9486-A6D1-F88A2D6E3F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938" y="3144778"/>
            <a:ext cx="5761264" cy="3554604"/>
          </a:xfrm>
          <a:prstGeom prst="rect">
            <a:avLst/>
          </a:prstGeom>
        </p:spPr>
      </p:pic>
      <p:pic>
        <p:nvPicPr>
          <p:cNvPr id="11" name="Picture 10">
            <a:extLst>
              <a:ext uri="{FF2B5EF4-FFF2-40B4-BE49-F238E27FC236}">
                <a16:creationId xmlns:a16="http://schemas.microsoft.com/office/drawing/2014/main" id="{7134A74E-E3BF-FD0C-C4D8-1B322247AE9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1935921"/>
            <a:ext cx="11757945" cy="940149"/>
          </a:xfrm>
          <a:prstGeom prst="rect">
            <a:avLst/>
          </a:prstGeom>
        </p:spPr>
      </p:pic>
    </p:spTree>
    <p:extLst>
      <p:ext uri="{BB962C8B-B14F-4D97-AF65-F5344CB8AC3E}">
        <p14:creationId xmlns:p14="http://schemas.microsoft.com/office/powerpoint/2010/main" val="25895298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81D50-FBF3-62AA-D5A6-8C9E84C5CA25}"/>
            </a:ext>
          </a:extLst>
        </p:cNvPr>
        <p:cNvGrpSpPr/>
        <p:nvPr/>
      </p:nvGrpSpPr>
      <p:grpSpPr>
        <a:xfrm>
          <a:off x="0" y="0"/>
          <a:ext cx="0" cy="0"/>
          <a:chOff x="0" y="0"/>
          <a:chExt cx="0" cy="0"/>
        </a:xfrm>
      </p:grpSpPr>
      <p:pic>
        <p:nvPicPr>
          <p:cNvPr id="8" name="Picture 7" descr="A green field with trees and a river&#10;&#10;AI-generated content may be incorrect.">
            <a:extLst>
              <a:ext uri="{FF2B5EF4-FFF2-40B4-BE49-F238E27FC236}">
                <a16:creationId xmlns:a16="http://schemas.microsoft.com/office/drawing/2014/main" id="{50220FB8-2029-9E89-C683-F057B58F5D05}"/>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6467" b="16152"/>
          <a:stretch/>
        </p:blipFill>
        <p:spPr>
          <a:xfrm>
            <a:off x="20" y="2030"/>
            <a:ext cx="12191980" cy="6855970"/>
          </a:xfrm>
          <a:prstGeom prst="rect">
            <a:avLst/>
          </a:prstGeom>
        </p:spPr>
      </p:pic>
      <p:sp>
        <p:nvSpPr>
          <p:cNvPr id="2" name="Title 1">
            <a:extLst>
              <a:ext uri="{FF2B5EF4-FFF2-40B4-BE49-F238E27FC236}">
                <a16:creationId xmlns:a16="http://schemas.microsoft.com/office/drawing/2014/main" id="{F5F6C082-4647-774E-0B2C-5AAC6E327829}"/>
              </a:ext>
            </a:extLst>
          </p:cNvPr>
          <p:cNvSpPr>
            <a:spLocks noGrp="1"/>
          </p:cNvSpPr>
          <p:nvPr>
            <p:ph type="title"/>
          </p:nvPr>
        </p:nvSpPr>
        <p:spPr>
          <a:xfrm>
            <a:off x="913795" y="609600"/>
            <a:ext cx="10353761" cy="1326321"/>
          </a:xfrm>
        </p:spPr>
        <p:txBody>
          <a:bodyPr>
            <a:normAutofit/>
          </a:bodyPr>
          <a:lstStyle/>
          <a:p>
            <a:pPr algn="l">
              <a:spcBef>
                <a:spcPts val="1372"/>
              </a:spcBef>
              <a:spcAft>
                <a:spcPts val="1029"/>
              </a:spcAft>
            </a:pPr>
            <a:r>
              <a:rPr lang="en-US" b="1" i="0" dirty="0">
                <a:solidFill>
                  <a:srgbClr val="F8FAFF"/>
                </a:solidFill>
                <a:effectLst/>
                <a:latin typeface="Times New Roman" panose="02020603050405020304" pitchFamily="18" charset="0"/>
                <a:cs typeface="Times New Roman" panose="02020603050405020304" pitchFamily="18" charset="0"/>
              </a:rPr>
              <a:t>Recommendations</a:t>
            </a:r>
            <a:endParaRPr lang="en-US" b="0" i="0" dirty="0">
              <a:solidFill>
                <a:srgbClr val="F8FAFF"/>
              </a:solidFill>
              <a:effectLst/>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EE61FC6F-BDDF-0DF7-4051-52760F85D35D}"/>
              </a:ext>
            </a:extLst>
          </p:cNvPr>
          <p:cNvSpPr>
            <a:spLocks noGrp="1" noChangeArrowheads="1"/>
          </p:cNvSpPr>
          <p:nvPr>
            <p:ph idx="1"/>
          </p:nvPr>
        </p:nvSpPr>
        <p:spPr bwMode="auto">
          <a:xfrm>
            <a:off x="344747" y="2334929"/>
            <a:ext cx="10353761" cy="3670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l">
              <a:lnSpc>
                <a:spcPts val="2143"/>
              </a:lnSpc>
              <a:spcBef>
                <a:spcPts val="1029"/>
              </a:spcBef>
              <a:spcAft>
                <a:spcPts val="300"/>
              </a:spcAft>
              <a:buFont typeface="Arial" panose="020B0604020202020204" pitchFamily="34" charset="0"/>
              <a:buChar char="•"/>
            </a:pPr>
            <a:r>
              <a:rPr lang="en-US" b="1" i="0" dirty="0">
                <a:solidFill>
                  <a:srgbClr val="F8FAFF"/>
                </a:solidFill>
                <a:effectLst/>
                <a:latin typeface="Times New Roman" panose="02020603050405020304" pitchFamily="18" charset="0"/>
                <a:cs typeface="Times New Roman" panose="02020603050405020304" pitchFamily="18" charset="0"/>
              </a:rPr>
              <a:t>Farmers</a:t>
            </a:r>
            <a:r>
              <a:rPr lang="en-US" b="0" i="0" dirty="0">
                <a:solidFill>
                  <a:srgbClr val="F8FAFF"/>
                </a:solidFill>
                <a:effectLst/>
                <a:latin typeface="Times New Roman" panose="02020603050405020304" pitchFamily="18" charset="0"/>
                <a:cs typeface="Times New Roman" panose="02020603050405020304" pitchFamily="18" charset="0"/>
              </a:rPr>
              <a:t>:</a:t>
            </a:r>
          </a:p>
          <a:p>
            <a:pPr marL="742950" lvl="1" indent="-285750" algn="l">
              <a:lnSpc>
                <a:spcPts val="2143"/>
              </a:lnSpc>
              <a:spcBef>
                <a:spcPts val="300"/>
              </a:spcBef>
              <a:spcAft>
                <a:spcPts val="1029"/>
              </a:spcAft>
              <a:buFont typeface="Arial" panose="020B0604020202020204" pitchFamily="34" charset="0"/>
              <a:buChar char="•"/>
            </a:pPr>
            <a:r>
              <a:rPr lang="en-US" b="0" i="0" dirty="0">
                <a:solidFill>
                  <a:srgbClr val="F8FAFF"/>
                </a:solidFill>
                <a:effectLst/>
                <a:latin typeface="Times New Roman" panose="02020603050405020304" pitchFamily="18" charset="0"/>
                <a:cs typeface="Times New Roman" panose="02020603050405020304" pitchFamily="18" charset="0"/>
              </a:rPr>
              <a:t>Switch to soybean in high-risk zones</a:t>
            </a:r>
          </a:p>
          <a:p>
            <a:pPr marL="742950" lvl="1" indent="-285750" algn="l">
              <a:lnSpc>
                <a:spcPts val="2143"/>
              </a:lnSpc>
              <a:spcBef>
                <a:spcPts val="300"/>
              </a:spcBef>
              <a:spcAft>
                <a:spcPts val="1029"/>
              </a:spcAft>
              <a:buFont typeface="Arial" panose="020B0604020202020204" pitchFamily="34" charset="0"/>
              <a:buChar char="•"/>
            </a:pPr>
            <a:r>
              <a:rPr lang="en-US" b="0" i="0" dirty="0">
                <a:solidFill>
                  <a:srgbClr val="F8FAFF"/>
                </a:solidFill>
                <a:effectLst/>
                <a:latin typeface="Times New Roman" panose="02020603050405020304" pitchFamily="18" charset="0"/>
                <a:cs typeface="Times New Roman" panose="02020603050405020304" pitchFamily="18" charset="0"/>
              </a:rPr>
              <a:t>Optimize planting using CO₂ thresholds</a:t>
            </a:r>
          </a:p>
          <a:p>
            <a:pPr marL="742950" lvl="1" indent="-285750" algn="l">
              <a:lnSpc>
                <a:spcPts val="2143"/>
              </a:lnSpc>
              <a:spcBef>
                <a:spcPts val="300"/>
              </a:spcBef>
              <a:spcAft>
                <a:spcPts val="1029"/>
              </a:spcAft>
              <a:buFont typeface="Arial" panose="020B0604020202020204" pitchFamily="34" charset="0"/>
              <a:buChar char="•"/>
            </a:pPr>
            <a:endParaRPr lang="en-US" dirty="0">
              <a:solidFill>
                <a:srgbClr val="F8FAFF"/>
              </a:solidFill>
              <a:effectLst/>
              <a:latin typeface="Times New Roman" panose="02020603050405020304" pitchFamily="18" charset="0"/>
              <a:cs typeface="Times New Roman" panose="02020603050405020304" pitchFamily="18" charset="0"/>
            </a:endParaRPr>
          </a:p>
          <a:p>
            <a:pPr algn="l">
              <a:lnSpc>
                <a:spcPts val="2143"/>
              </a:lnSpc>
              <a:spcBef>
                <a:spcPts val="300"/>
              </a:spcBef>
              <a:spcAft>
                <a:spcPts val="300"/>
              </a:spcAft>
              <a:buFont typeface="Arial" panose="020B0604020202020204" pitchFamily="34" charset="0"/>
              <a:buChar char="•"/>
            </a:pPr>
            <a:r>
              <a:rPr lang="en-US" b="1" i="0" dirty="0">
                <a:solidFill>
                  <a:srgbClr val="F8FAFF"/>
                </a:solidFill>
                <a:effectLst/>
                <a:latin typeface="Times New Roman" panose="02020603050405020304" pitchFamily="18" charset="0"/>
                <a:cs typeface="Times New Roman" panose="02020603050405020304" pitchFamily="18" charset="0"/>
              </a:rPr>
              <a:t>Policymakers</a:t>
            </a:r>
            <a:r>
              <a:rPr lang="en-US" b="0" i="0" dirty="0">
                <a:solidFill>
                  <a:srgbClr val="F8FAFF"/>
                </a:solidFill>
                <a:effectLst/>
                <a:latin typeface="Times New Roman" panose="02020603050405020304" pitchFamily="18" charset="0"/>
                <a:cs typeface="Times New Roman" panose="02020603050405020304" pitchFamily="18" charset="0"/>
              </a:rPr>
              <a:t>:</a:t>
            </a:r>
          </a:p>
          <a:p>
            <a:pPr marL="742950" lvl="1" indent="-285750" algn="l">
              <a:lnSpc>
                <a:spcPts val="2143"/>
              </a:lnSpc>
              <a:spcBef>
                <a:spcPts val="300"/>
              </a:spcBef>
              <a:spcAft>
                <a:spcPts val="1029"/>
              </a:spcAft>
              <a:buFont typeface="Arial" panose="020B0604020202020204" pitchFamily="34" charset="0"/>
              <a:buChar char="•"/>
            </a:pPr>
            <a:r>
              <a:rPr lang="en-US" b="0" i="0" dirty="0">
                <a:solidFill>
                  <a:srgbClr val="F8FAFF"/>
                </a:solidFill>
                <a:effectLst/>
                <a:latin typeface="Times New Roman" panose="02020603050405020304" pitchFamily="18" charset="0"/>
                <a:cs typeface="Times New Roman" panose="02020603050405020304" pitchFamily="18" charset="0"/>
              </a:rPr>
              <a:t>Fund drought-resistant maize R&amp;D</a:t>
            </a:r>
          </a:p>
          <a:p>
            <a:pPr marL="742950" lvl="1" indent="-285750" algn="l">
              <a:lnSpc>
                <a:spcPts val="2143"/>
              </a:lnSpc>
              <a:spcBef>
                <a:spcPts val="300"/>
              </a:spcBef>
              <a:spcAft>
                <a:spcPts val="1029"/>
              </a:spcAft>
              <a:buFont typeface="Arial" panose="020B0604020202020204" pitchFamily="34" charset="0"/>
              <a:buChar char="•"/>
            </a:pPr>
            <a:r>
              <a:rPr lang="en-US" b="0" i="0" dirty="0">
                <a:solidFill>
                  <a:srgbClr val="F8FAFF"/>
                </a:solidFill>
                <a:effectLst/>
                <a:latin typeface="Times New Roman" panose="02020603050405020304" pitchFamily="18" charset="0"/>
                <a:cs typeface="Times New Roman" panose="02020603050405020304" pitchFamily="18" charset="0"/>
              </a:rPr>
              <a:t>Target subsidies via risk maps</a:t>
            </a:r>
          </a:p>
          <a:p>
            <a:pPr marL="457200" lvl="1" indent="0" algn="l">
              <a:lnSpc>
                <a:spcPts val="2143"/>
              </a:lnSpc>
              <a:spcBef>
                <a:spcPts val="300"/>
              </a:spcBef>
              <a:spcAft>
                <a:spcPts val="1029"/>
              </a:spcAft>
              <a:buNone/>
            </a:pPr>
            <a:endParaRPr lang="en-US" b="0" i="0" dirty="0">
              <a:solidFill>
                <a:srgbClr val="F8FAFF"/>
              </a:solidFill>
              <a:effectLst/>
              <a:latin typeface="Times New Roman" panose="02020603050405020304" pitchFamily="18" charset="0"/>
              <a:cs typeface="Times New Roman" panose="02020603050405020304" pitchFamily="18" charset="0"/>
            </a:endParaRPr>
          </a:p>
          <a:p>
            <a:pPr marL="457200" lvl="1" indent="0" algn="l">
              <a:lnSpc>
                <a:spcPts val="2143"/>
              </a:lnSpc>
              <a:spcBef>
                <a:spcPts val="300"/>
              </a:spcBef>
              <a:spcAft>
                <a:spcPts val="1029"/>
              </a:spcAft>
              <a:buNone/>
            </a:pPr>
            <a:endParaRPr lang="en-US" b="0" i="0" dirty="0">
              <a:solidFill>
                <a:srgbClr val="F8FAFF"/>
              </a:solidFill>
              <a:effectLst/>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4D544C7-7CEB-9542-5014-99996C634088}"/>
              </a:ext>
            </a:extLst>
          </p:cNvPr>
          <p:cNvPicPr>
            <a:picLocks noChangeAspect="1"/>
          </p:cNvPicPr>
          <p:nvPr/>
        </p:nvPicPr>
        <p:blipFill>
          <a:blip r:embed="rId3"/>
          <a:stretch>
            <a:fillRect/>
          </a:stretch>
        </p:blipFill>
        <p:spPr>
          <a:xfrm>
            <a:off x="5503473" y="2521044"/>
            <a:ext cx="5996751" cy="2851839"/>
          </a:xfrm>
          <a:prstGeom prst="rect">
            <a:avLst/>
          </a:prstGeom>
        </p:spPr>
      </p:pic>
    </p:spTree>
    <p:extLst>
      <p:ext uri="{BB962C8B-B14F-4D97-AF65-F5344CB8AC3E}">
        <p14:creationId xmlns:p14="http://schemas.microsoft.com/office/powerpoint/2010/main" val="24551172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D7194-804E-78D2-0EEF-9DBEF8ADBA55}"/>
            </a:ext>
          </a:extLst>
        </p:cNvPr>
        <p:cNvGrpSpPr/>
        <p:nvPr/>
      </p:nvGrpSpPr>
      <p:grpSpPr>
        <a:xfrm>
          <a:off x="0" y="0"/>
          <a:ext cx="0" cy="0"/>
          <a:chOff x="0" y="0"/>
          <a:chExt cx="0" cy="0"/>
        </a:xfrm>
      </p:grpSpPr>
      <p:pic>
        <p:nvPicPr>
          <p:cNvPr id="8" name="Picture 7" descr="A green field with trees and a river&#10;&#10;AI-generated content may be incorrect.">
            <a:extLst>
              <a:ext uri="{FF2B5EF4-FFF2-40B4-BE49-F238E27FC236}">
                <a16:creationId xmlns:a16="http://schemas.microsoft.com/office/drawing/2014/main" id="{5DA6DB7F-7C1C-C72E-7209-A5A01A69F1AF}"/>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6467" b="16152"/>
          <a:stretch/>
        </p:blipFill>
        <p:spPr>
          <a:xfrm>
            <a:off x="20" y="2030"/>
            <a:ext cx="12191980" cy="6855970"/>
          </a:xfrm>
          <a:prstGeom prst="rect">
            <a:avLst/>
          </a:prstGeom>
        </p:spPr>
      </p:pic>
      <p:sp>
        <p:nvSpPr>
          <p:cNvPr id="2" name="Title 1">
            <a:extLst>
              <a:ext uri="{FF2B5EF4-FFF2-40B4-BE49-F238E27FC236}">
                <a16:creationId xmlns:a16="http://schemas.microsoft.com/office/drawing/2014/main" id="{6EA3E578-8C91-4A60-880E-6EAD402719D6}"/>
              </a:ext>
            </a:extLst>
          </p:cNvPr>
          <p:cNvSpPr>
            <a:spLocks noGrp="1"/>
          </p:cNvSpPr>
          <p:nvPr>
            <p:ph type="title"/>
          </p:nvPr>
        </p:nvSpPr>
        <p:spPr>
          <a:xfrm>
            <a:off x="913795" y="609600"/>
            <a:ext cx="10353761" cy="1326321"/>
          </a:xfrm>
        </p:spPr>
        <p:txBody>
          <a:bodyPr>
            <a:normAutofit/>
          </a:bodyPr>
          <a:lstStyle/>
          <a:p>
            <a:pPr algn="l">
              <a:spcBef>
                <a:spcPts val="1372"/>
              </a:spcBef>
              <a:spcAft>
                <a:spcPts val="1029"/>
              </a:spcAft>
            </a:pPr>
            <a:r>
              <a:rPr lang="en-US" sz="3600" dirty="0">
                <a:effectLst/>
                <a:latin typeface="Times New Roman" panose="02020603050405020304" pitchFamily="18" charset="0"/>
                <a:cs typeface="Times New Roman" panose="02020603050405020304" pitchFamily="18" charset="0"/>
              </a:rPr>
              <a:t>Conclusions &amp; Future Work</a:t>
            </a:r>
            <a:endParaRPr lang="en-US" b="0" i="0" dirty="0">
              <a:solidFill>
                <a:srgbClr val="F8FAFF"/>
              </a:solidFill>
              <a:effectLst/>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220D08D4-EC17-2492-DA4E-F8F5F744C437}"/>
              </a:ext>
            </a:extLst>
          </p:cNvPr>
          <p:cNvSpPr>
            <a:spLocks noGrp="1" noChangeArrowheads="1"/>
          </p:cNvSpPr>
          <p:nvPr>
            <p:ph idx="1"/>
          </p:nvPr>
        </p:nvSpPr>
        <p:spPr bwMode="auto">
          <a:xfrm>
            <a:off x="801947" y="2152151"/>
            <a:ext cx="10353761" cy="32855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1" indent="0" algn="l">
              <a:lnSpc>
                <a:spcPts val="2143"/>
              </a:lnSpc>
              <a:spcBef>
                <a:spcPts val="300"/>
              </a:spcBef>
              <a:spcAft>
                <a:spcPts val="1029"/>
              </a:spcAft>
              <a:buNone/>
            </a:pPr>
            <a:br>
              <a:rPr lang="en-US" sz="1800" b="0" dirty="0">
                <a:effectLst/>
                <a:latin typeface="Times New Roman" panose="02020603050405020304" pitchFamily="18" charset="0"/>
                <a:cs typeface="Times New Roman" panose="02020603050405020304" pitchFamily="18" charset="0"/>
              </a:rPr>
            </a:br>
            <a:r>
              <a:rPr lang="en-US" sz="1800" dirty="0">
                <a:effectLst/>
                <a:latin typeface="Times New Roman" panose="02020603050405020304" pitchFamily="18" charset="0"/>
                <a:cs typeface="Times New Roman" panose="02020603050405020304" pitchFamily="18" charset="0"/>
              </a:rPr>
              <a:t>Proven Effectiveness</a:t>
            </a:r>
            <a:r>
              <a:rPr lang="en-US" sz="1800" b="0" dirty="0">
                <a:effectLst/>
                <a:latin typeface="Times New Roman" panose="02020603050405020304" pitchFamily="18" charset="0"/>
                <a:cs typeface="Times New Roman" panose="02020603050405020304" pitchFamily="18" charset="0"/>
              </a:rPr>
              <a:t>: Achieved </a:t>
            </a:r>
            <a:r>
              <a:rPr lang="en-US" sz="1800" dirty="0">
                <a:effectLst/>
                <a:latin typeface="Times New Roman" panose="02020603050405020304" pitchFamily="18" charset="0"/>
                <a:cs typeface="Times New Roman" panose="02020603050405020304" pitchFamily="18" charset="0"/>
              </a:rPr>
              <a:t>0.77 R²</a:t>
            </a:r>
            <a:r>
              <a:rPr lang="en-US" sz="1800" b="0" dirty="0">
                <a:effectLst/>
                <a:latin typeface="Times New Roman" panose="02020603050405020304" pitchFamily="18" charset="0"/>
                <a:cs typeface="Times New Roman" panose="02020603050405020304" pitchFamily="18" charset="0"/>
              </a:rPr>
              <a:t> in yield prediction, outperforming traditional models by </a:t>
            </a:r>
            <a:r>
              <a:rPr lang="en-US" sz="1800" dirty="0">
                <a:effectLst/>
                <a:latin typeface="Times New Roman" panose="02020603050405020304" pitchFamily="18" charset="0"/>
                <a:cs typeface="Times New Roman" panose="02020603050405020304" pitchFamily="18" charset="0"/>
              </a:rPr>
              <a:t>32%</a:t>
            </a:r>
            <a:endParaRPr lang="en-US" b="0" dirty="0">
              <a:effectLst/>
              <a:latin typeface="Times New Roman" panose="02020603050405020304" pitchFamily="18" charset="0"/>
              <a:cs typeface="Times New Roman" panose="02020603050405020304" pitchFamily="18" charset="0"/>
            </a:endParaRPr>
          </a:p>
          <a:p>
            <a:pPr marL="457200" lvl="1" indent="0" algn="l">
              <a:lnSpc>
                <a:spcPts val="2143"/>
              </a:lnSpc>
              <a:spcBef>
                <a:spcPts val="300"/>
              </a:spcBef>
              <a:spcAft>
                <a:spcPts val="1029"/>
              </a:spcAft>
              <a:buNone/>
            </a:pPr>
            <a:br>
              <a:rPr lang="en-US" sz="1800" b="0" dirty="0">
                <a:effectLst/>
                <a:latin typeface="Times New Roman" panose="02020603050405020304" pitchFamily="18" charset="0"/>
                <a:cs typeface="Times New Roman" panose="02020603050405020304" pitchFamily="18" charset="0"/>
              </a:rPr>
            </a:br>
            <a:r>
              <a:rPr lang="en-US" sz="1800" dirty="0">
                <a:effectLst/>
                <a:latin typeface="Times New Roman" panose="02020603050405020304" pitchFamily="18" charset="0"/>
                <a:cs typeface="Times New Roman" panose="02020603050405020304" pitchFamily="18" charset="0"/>
              </a:rPr>
              <a:t>Stakeholder Impact</a:t>
            </a:r>
            <a:r>
              <a:rPr lang="en-US" sz="1800" b="0" dirty="0">
                <a:effectLst/>
                <a:latin typeface="Times New Roman" panose="02020603050405020304" pitchFamily="18" charset="0"/>
                <a:cs typeface="Times New Roman" panose="02020603050405020304" pitchFamily="18" charset="0"/>
              </a:rPr>
              <a:t>: Farmers gain </a:t>
            </a:r>
            <a:r>
              <a:rPr lang="en-US" sz="1800" dirty="0">
                <a:effectLst/>
                <a:latin typeface="Times New Roman" panose="02020603050405020304" pitchFamily="18" charset="0"/>
                <a:cs typeface="Times New Roman" panose="02020603050405020304" pitchFamily="18" charset="0"/>
              </a:rPr>
              <a:t>23% yield stability</a:t>
            </a:r>
            <a:r>
              <a:rPr lang="en-US" sz="1800" b="0" dirty="0">
                <a:effectLst/>
                <a:latin typeface="Times New Roman" panose="02020603050405020304" pitchFamily="18" charset="0"/>
                <a:cs typeface="Times New Roman" panose="02020603050405020304" pitchFamily="18" charset="0"/>
              </a:rPr>
              <a:t>; policymakers cut subsidy waste by </a:t>
            </a:r>
            <a:r>
              <a:rPr lang="en-US" sz="1800" dirty="0">
                <a:effectLst/>
                <a:latin typeface="Times New Roman" panose="02020603050405020304" pitchFamily="18" charset="0"/>
                <a:cs typeface="Times New Roman" panose="02020603050405020304" pitchFamily="18" charset="0"/>
              </a:rPr>
              <a:t>35%</a:t>
            </a:r>
            <a:endParaRPr lang="en-US" b="0" dirty="0">
              <a:effectLst/>
              <a:latin typeface="Times New Roman" panose="02020603050405020304" pitchFamily="18" charset="0"/>
              <a:cs typeface="Times New Roman" panose="02020603050405020304" pitchFamily="18" charset="0"/>
            </a:endParaRPr>
          </a:p>
          <a:p>
            <a:pPr marL="457200" lvl="1" indent="0" algn="l">
              <a:lnSpc>
                <a:spcPts val="2143"/>
              </a:lnSpc>
              <a:spcBef>
                <a:spcPts val="300"/>
              </a:spcBef>
              <a:spcAft>
                <a:spcPts val="1029"/>
              </a:spcAft>
              <a:buNone/>
            </a:pPr>
            <a:br>
              <a:rPr lang="en-US" sz="1800" b="0" dirty="0">
                <a:effectLst/>
                <a:latin typeface="Times New Roman" panose="02020603050405020304" pitchFamily="18" charset="0"/>
                <a:cs typeface="Times New Roman" panose="02020603050405020304" pitchFamily="18" charset="0"/>
              </a:rPr>
            </a:br>
            <a:r>
              <a:rPr lang="en-US" sz="1800" dirty="0">
                <a:effectLst/>
                <a:latin typeface="Times New Roman" panose="02020603050405020304" pitchFamily="18" charset="0"/>
                <a:cs typeface="Times New Roman" panose="02020603050405020304" pitchFamily="18" charset="0"/>
              </a:rPr>
              <a:t>Research Gap Addressed</a:t>
            </a:r>
            <a:r>
              <a:rPr lang="en-US" sz="1800" b="0" dirty="0">
                <a:effectLst/>
                <a:latin typeface="Times New Roman" panose="02020603050405020304" pitchFamily="18" charset="0"/>
                <a:cs typeface="Times New Roman" panose="02020603050405020304" pitchFamily="18" charset="0"/>
              </a:rPr>
              <a:t>: First to combine </a:t>
            </a:r>
            <a:r>
              <a:rPr lang="en-US" sz="1800" dirty="0">
                <a:effectLst/>
                <a:latin typeface="Times New Roman" panose="02020603050405020304" pitchFamily="18" charset="0"/>
                <a:cs typeface="Times New Roman" panose="02020603050405020304" pitchFamily="18" charset="0"/>
              </a:rPr>
              <a:t>CO₂ thresholds</a:t>
            </a:r>
            <a:r>
              <a:rPr lang="en-US" sz="1800" b="0" dirty="0">
                <a:effectLst/>
                <a:latin typeface="Times New Roman" panose="02020603050405020304" pitchFamily="18" charset="0"/>
                <a:cs typeface="Times New Roman" panose="02020603050405020304" pitchFamily="18" charset="0"/>
              </a:rPr>
              <a:t> with hyperlocal adaptation strategies</a:t>
            </a:r>
          </a:p>
          <a:p>
            <a:pPr marL="457200" lvl="1" indent="0" algn="l">
              <a:lnSpc>
                <a:spcPts val="2143"/>
              </a:lnSpc>
              <a:spcBef>
                <a:spcPts val="300"/>
              </a:spcBef>
              <a:spcAft>
                <a:spcPts val="1029"/>
              </a:spcAft>
              <a:buNone/>
            </a:pPr>
            <a:br>
              <a:rPr lang="en-US" sz="1800" b="0" dirty="0">
                <a:effectLst/>
                <a:latin typeface="Times New Roman" panose="02020603050405020304" pitchFamily="18" charset="0"/>
                <a:cs typeface="Times New Roman" panose="02020603050405020304" pitchFamily="18" charset="0"/>
              </a:rPr>
            </a:br>
            <a:r>
              <a:rPr lang="en-US" sz="1800" dirty="0">
                <a:effectLst/>
                <a:latin typeface="Times New Roman" panose="02020603050405020304" pitchFamily="18" charset="0"/>
                <a:cs typeface="Times New Roman" panose="02020603050405020304" pitchFamily="18" charset="0"/>
              </a:rPr>
              <a:t>Future Roadmap</a:t>
            </a:r>
            <a:r>
              <a:rPr lang="en-US" sz="1800" b="0" dirty="0">
                <a:effectLst/>
                <a:latin typeface="Times New Roman" panose="02020603050405020304" pitchFamily="18" charset="0"/>
                <a:cs typeface="Times New Roman" panose="02020603050405020304" pitchFamily="18" charset="0"/>
              </a:rPr>
              <a:t>: Expand to </a:t>
            </a:r>
            <a:r>
              <a:rPr lang="en-US" sz="1800" dirty="0">
                <a:effectLst/>
                <a:latin typeface="Times New Roman" panose="02020603050405020304" pitchFamily="18" charset="0"/>
                <a:cs typeface="Times New Roman" panose="02020603050405020304" pitchFamily="18" charset="0"/>
              </a:rPr>
              <a:t>Australia/Pacific</a:t>
            </a:r>
            <a:r>
              <a:rPr lang="en-US" sz="1800" b="0" dirty="0">
                <a:effectLst/>
                <a:latin typeface="Times New Roman" panose="02020603050405020304" pitchFamily="18" charset="0"/>
                <a:cs typeface="Times New Roman" panose="02020603050405020304" pitchFamily="18" charset="0"/>
              </a:rPr>
              <a:t>, integrate </a:t>
            </a:r>
            <a:r>
              <a:rPr lang="en-US" sz="1800" dirty="0">
                <a:effectLst/>
                <a:latin typeface="Times New Roman" panose="02020603050405020304" pitchFamily="18" charset="0"/>
                <a:cs typeface="Times New Roman" panose="02020603050405020304" pitchFamily="18" charset="0"/>
              </a:rPr>
              <a:t>real-time satellite data</a:t>
            </a:r>
            <a:r>
              <a:rPr lang="en-US" sz="1800" b="0" dirty="0">
                <a:effectLst/>
                <a:latin typeface="Times New Roman" panose="02020603050405020304" pitchFamily="18" charset="0"/>
                <a:cs typeface="Times New Roman" panose="02020603050405020304" pitchFamily="18" charset="0"/>
              </a:rPr>
              <a:t>, and launch </a:t>
            </a:r>
            <a:r>
              <a:rPr lang="en-US" sz="1800" dirty="0">
                <a:effectLst/>
                <a:latin typeface="Times New Roman" panose="02020603050405020304" pitchFamily="18" charset="0"/>
                <a:cs typeface="Times New Roman" panose="02020603050405020304" pitchFamily="18" charset="0"/>
              </a:rPr>
              <a:t>farmer alert apps</a:t>
            </a:r>
            <a:br>
              <a:rPr lang="en-US" sz="1800" b="0" dirty="0">
                <a:effectLst/>
                <a:latin typeface="Times New Roman" panose="02020603050405020304" pitchFamily="18" charset="0"/>
                <a:cs typeface="Times New Roman" panose="02020603050405020304" pitchFamily="18" charset="0"/>
              </a:rPr>
            </a:br>
            <a:endParaRPr lang="en-US" b="0" i="0" dirty="0">
              <a:solidFill>
                <a:srgbClr val="F8FAFF"/>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13365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65780-9246-371D-C1EF-18D3BC9D2D1A}"/>
            </a:ext>
          </a:extLst>
        </p:cNvPr>
        <p:cNvGrpSpPr/>
        <p:nvPr/>
      </p:nvGrpSpPr>
      <p:grpSpPr>
        <a:xfrm>
          <a:off x="0" y="0"/>
          <a:ext cx="0" cy="0"/>
          <a:chOff x="0" y="0"/>
          <a:chExt cx="0" cy="0"/>
        </a:xfrm>
      </p:grpSpPr>
      <p:pic>
        <p:nvPicPr>
          <p:cNvPr id="8" name="Picture 7" descr="A green field with trees and a river&#10;&#10;AI-generated content may be incorrect.">
            <a:extLst>
              <a:ext uri="{FF2B5EF4-FFF2-40B4-BE49-F238E27FC236}">
                <a16:creationId xmlns:a16="http://schemas.microsoft.com/office/drawing/2014/main" id="{2138CF93-6BD8-1BE6-667B-151F0C33B3DB}"/>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6467" b="16152"/>
          <a:stretch/>
        </p:blipFill>
        <p:spPr>
          <a:xfrm>
            <a:off x="20" y="2030"/>
            <a:ext cx="12191980" cy="6855970"/>
          </a:xfrm>
          <a:prstGeom prst="rect">
            <a:avLst/>
          </a:prstGeom>
        </p:spPr>
      </p:pic>
      <p:sp>
        <p:nvSpPr>
          <p:cNvPr id="2" name="Title 1">
            <a:extLst>
              <a:ext uri="{FF2B5EF4-FFF2-40B4-BE49-F238E27FC236}">
                <a16:creationId xmlns:a16="http://schemas.microsoft.com/office/drawing/2014/main" id="{DD9C2C30-C6CC-99DB-402B-DEA7DDA26A1D}"/>
              </a:ext>
            </a:extLst>
          </p:cNvPr>
          <p:cNvSpPr>
            <a:spLocks noGrp="1"/>
          </p:cNvSpPr>
          <p:nvPr>
            <p:ph type="title"/>
          </p:nvPr>
        </p:nvSpPr>
        <p:spPr>
          <a:xfrm>
            <a:off x="919119" y="389815"/>
            <a:ext cx="10353761" cy="1326321"/>
          </a:xfrm>
        </p:spPr>
        <p:txBody>
          <a:bodyPr>
            <a:normAutofit/>
          </a:bodyPr>
          <a:lstStyle/>
          <a:p>
            <a:pPr algn="l">
              <a:spcBef>
                <a:spcPts val="1372"/>
              </a:spcBef>
              <a:spcAft>
                <a:spcPts val="1029"/>
              </a:spcAft>
            </a:pPr>
            <a:r>
              <a:rPr lang="en-US" b="0" dirty="0">
                <a:solidFill>
                  <a:srgbClr val="F8FAFF"/>
                </a:solidFill>
                <a:effectLst/>
                <a:latin typeface="Times New Roman" panose="02020603050405020304" pitchFamily="18" charset="0"/>
                <a:cs typeface="Times New Roman" panose="02020603050405020304" pitchFamily="18" charset="0"/>
              </a:rPr>
              <a:t>REFERENCES </a:t>
            </a:r>
            <a:endParaRPr lang="en-US" b="0" i="0" dirty="0">
              <a:solidFill>
                <a:srgbClr val="F8FAFF"/>
              </a:solidFill>
              <a:effectLst/>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3F0F1E82-7409-8BFD-5B25-6EEC13781FB4}"/>
              </a:ext>
            </a:extLst>
          </p:cNvPr>
          <p:cNvSpPr>
            <a:spLocks noGrp="1" noChangeArrowheads="1"/>
          </p:cNvSpPr>
          <p:nvPr>
            <p:ph idx="1"/>
          </p:nvPr>
        </p:nvSpPr>
        <p:spPr bwMode="auto">
          <a:xfrm>
            <a:off x="801947" y="1716136"/>
            <a:ext cx="10353761" cy="4157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1" indent="0" algn="l">
              <a:lnSpc>
                <a:spcPts val="2143"/>
              </a:lnSpc>
              <a:spcBef>
                <a:spcPts val="300"/>
              </a:spcBef>
              <a:spcAft>
                <a:spcPts val="1029"/>
              </a:spcAft>
              <a:buNone/>
            </a:pPr>
            <a:r>
              <a:rPr lang="en-US" b="0" i="0" dirty="0">
                <a:solidFill>
                  <a:srgbClr val="F8FAFF"/>
                </a:solidFill>
                <a:effectLst/>
                <a:latin typeface="Times New Roman" panose="02020603050405020304" pitchFamily="18" charset="0"/>
                <a:cs typeface="Times New Roman" panose="02020603050405020304" pitchFamily="18" charset="0"/>
              </a:rPr>
              <a:t>Assessing the Impacts of Climate Change on Crop Yields in Different </a:t>
            </a:r>
            <a:r>
              <a:rPr lang="en-US" b="0" i="0" dirty="0" err="1">
                <a:solidFill>
                  <a:srgbClr val="F8FAFF"/>
                </a:solidFill>
                <a:effectLst/>
                <a:latin typeface="Times New Roman" panose="02020603050405020304" pitchFamily="18" charset="0"/>
                <a:cs typeface="Times New Roman" panose="02020603050405020304" pitchFamily="18" charset="0"/>
              </a:rPr>
              <a:t>Agro</a:t>
            </a:r>
            <a:r>
              <a:rPr lang="en-US" b="0" i="0" dirty="0">
                <a:solidFill>
                  <a:srgbClr val="F8FAFF"/>
                </a:solidFill>
                <a:effectLst/>
                <a:latin typeface="Times New Roman" panose="02020603050405020304" pitchFamily="18" charset="0"/>
                <a:cs typeface="Times New Roman" panose="02020603050405020304" pitchFamily="18" charset="0"/>
              </a:rPr>
              <a:t>-climatic Zones of India Naveen P Singh, Bhawna Anand, S K Srivastava, K V Rao, S K Bal, M Prabhakar</a:t>
            </a:r>
          </a:p>
          <a:p>
            <a:pPr marL="457200" lvl="1" indent="0" algn="l">
              <a:lnSpc>
                <a:spcPts val="2143"/>
              </a:lnSpc>
              <a:spcBef>
                <a:spcPts val="300"/>
              </a:spcBef>
              <a:spcAft>
                <a:spcPts val="1029"/>
              </a:spcAft>
              <a:buNone/>
            </a:pPr>
            <a:r>
              <a:rPr lang="en-US" b="0" i="0" dirty="0">
                <a:solidFill>
                  <a:srgbClr val="F8FAFF"/>
                </a:solidFill>
                <a:effectLst/>
                <a:latin typeface="Times New Roman" panose="02020603050405020304" pitchFamily="18" charset="0"/>
                <a:cs typeface="Times New Roman" panose="02020603050405020304" pitchFamily="18" charset="0"/>
              </a:rPr>
              <a:t>Aggarwal P. K., and Kalra N. (1994), ‘Analyzing the limitations set by climatic factors, genotype, water and nitrogen availability on productivity of wheat. II. Climatically potential yields and optimal management strategies’, Field Crops Research, Vol 38, pp 93–103.</a:t>
            </a:r>
          </a:p>
          <a:p>
            <a:pPr marL="457200" lvl="1" indent="0" algn="l">
              <a:lnSpc>
                <a:spcPts val="2143"/>
              </a:lnSpc>
              <a:spcBef>
                <a:spcPts val="300"/>
              </a:spcBef>
              <a:spcAft>
                <a:spcPts val="1029"/>
              </a:spcAft>
              <a:buNone/>
            </a:pPr>
            <a:r>
              <a:rPr lang="en-US" b="0" i="0" dirty="0">
                <a:solidFill>
                  <a:srgbClr val="F8FAFF"/>
                </a:solidFill>
                <a:effectLst/>
                <a:latin typeface="Times New Roman" panose="02020603050405020304" pitchFamily="18" charset="0"/>
                <a:cs typeface="Times New Roman" panose="02020603050405020304" pitchFamily="18" charset="0"/>
              </a:rPr>
              <a:t>Chatterjee A. (1998), ‘Simulating the impact of increase in carbon dioxide and temperature on growth and yield of maize and sorghum’, MSc thesis, Division of Environmental Sciences, IARI, New Delhi.</a:t>
            </a:r>
          </a:p>
          <a:p>
            <a:pPr marL="457200" lvl="1" indent="0" algn="l">
              <a:lnSpc>
                <a:spcPts val="2143"/>
              </a:lnSpc>
              <a:spcBef>
                <a:spcPts val="300"/>
              </a:spcBef>
              <a:spcAft>
                <a:spcPts val="1029"/>
              </a:spcAft>
              <a:buNone/>
            </a:pPr>
            <a:r>
              <a:rPr lang="en-US" b="0" i="0" dirty="0">
                <a:solidFill>
                  <a:srgbClr val="F8FAFF"/>
                </a:solidFill>
                <a:effectLst/>
                <a:latin typeface="Times New Roman" panose="02020603050405020304" pitchFamily="18" charset="0"/>
                <a:cs typeface="Times New Roman" panose="02020603050405020304" pitchFamily="18" charset="0"/>
              </a:rPr>
              <a:t>Gadgil S., Abrol Y. P., and Rao P. R. </a:t>
            </a:r>
            <a:r>
              <a:rPr lang="en-US" b="0" i="0" dirty="0" err="1">
                <a:solidFill>
                  <a:srgbClr val="F8FAFF"/>
                </a:solidFill>
                <a:effectLst/>
                <a:latin typeface="Times New Roman" panose="02020603050405020304" pitchFamily="18" charset="0"/>
                <a:cs typeface="Times New Roman" panose="02020603050405020304" pitchFamily="18" charset="0"/>
              </a:rPr>
              <a:t>Seshagri</a:t>
            </a:r>
            <a:r>
              <a:rPr lang="en-US" b="0" i="0" dirty="0">
                <a:solidFill>
                  <a:srgbClr val="F8FAFF"/>
                </a:solidFill>
                <a:effectLst/>
                <a:latin typeface="Times New Roman" panose="02020603050405020304" pitchFamily="18" charset="0"/>
                <a:cs typeface="Times New Roman" panose="02020603050405020304" pitchFamily="18" charset="0"/>
              </a:rPr>
              <a:t> (1999a), ‘On growth and fluctuation of Indian food grain production’, Current Science, Vol 76, pp 548–556.</a:t>
            </a:r>
          </a:p>
          <a:p>
            <a:pPr marL="457200" lvl="1" indent="0" algn="l">
              <a:lnSpc>
                <a:spcPts val="2143"/>
              </a:lnSpc>
              <a:spcBef>
                <a:spcPts val="300"/>
              </a:spcBef>
              <a:spcAft>
                <a:spcPts val="1029"/>
              </a:spcAft>
              <a:buNone/>
            </a:pPr>
            <a:r>
              <a:rPr lang="en-US" b="0" i="0" dirty="0">
                <a:solidFill>
                  <a:srgbClr val="F8FAFF"/>
                </a:solidFill>
                <a:effectLst/>
                <a:latin typeface="Times New Roman" panose="02020603050405020304" pitchFamily="18" charset="0"/>
                <a:cs typeface="Times New Roman" panose="02020603050405020304" pitchFamily="18" charset="0"/>
              </a:rPr>
              <a:t>Hundal S. S., and Kaur P. (1996), ‘Application of CERES-Wheat model to yield prediction in the irrigated plains of the Indian Punjab’, Journal of Agricultural Sciences (Cambridge), Vol 129, pp 13–18.</a:t>
            </a:r>
          </a:p>
          <a:p>
            <a:pPr marL="457200" lvl="1" indent="0" algn="l">
              <a:lnSpc>
                <a:spcPts val="2143"/>
              </a:lnSpc>
              <a:spcBef>
                <a:spcPts val="300"/>
              </a:spcBef>
              <a:spcAft>
                <a:spcPts val="1029"/>
              </a:spcAft>
              <a:buNone/>
            </a:pPr>
            <a:endParaRPr lang="en-US" b="0" i="0" dirty="0">
              <a:solidFill>
                <a:srgbClr val="F8FAFF"/>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97664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AE415-7C30-C64A-C464-F7523D5133F5}"/>
            </a:ext>
          </a:extLst>
        </p:cNvPr>
        <p:cNvGrpSpPr/>
        <p:nvPr/>
      </p:nvGrpSpPr>
      <p:grpSpPr>
        <a:xfrm>
          <a:off x="0" y="0"/>
          <a:ext cx="0" cy="0"/>
          <a:chOff x="0" y="0"/>
          <a:chExt cx="0" cy="0"/>
        </a:xfrm>
      </p:grpSpPr>
      <p:pic>
        <p:nvPicPr>
          <p:cNvPr id="8" name="Picture 7" descr="A green field with trees and a river&#10;&#10;AI-generated content may be incorrect.">
            <a:extLst>
              <a:ext uri="{FF2B5EF4-FFF2-40B4-BE49-F238E27FC236}">
                <a16:creationId xmlns:a16="http://schemas.microsoft.com/office/drawing/2014/main" id="{8ACE14C1-15E6-5345-4C2C-612A34A1021F}"/>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6467" b="16152"/>
          <a:stretch/>
        </p:blipFill>
        <p:spPr>
          <a:xfrm>
            <a:off x="20" y="2030"/>
            <a:ext cx="12191980" cy="6855970"/>
          </a:xfrm>
          <a:prstGeom prst="rect">
            <a:avLst/>
          </a:prstGeom>
        </p:spPr>
      </p:pic>
      <p:sp>
        <p:nvSpPr>
          <p:cNvPr id="2" name="Title 1">
            <a:extLst>
              <a:ext uri="{FF2B5EF4-FFF2-40B4-BE49-F238E27FC236}">
                <a16:creationId xmlns:a16="http://schemas.microsoft.com/office/drawing/2014/main" id="{FCDE6C70-597A-5AA3-94D8-5D812F7D196C}"/>
              </a:ext>
            </a:extLst>
          </p:cNvPr>
          <p:cNvSpPr>
            <a:spLocks noGrp="1"/>
          </p:cNvSpPr>
          <p:nvPr>
            <p:ph type="title"/>
          </p:nvPr>
        </p:nvSpPr>
        <p:spPr>
          <a:xfrm>
            <a:off x="801947" y="269858"/>
            <a:ext cx="10353761" cy="1326321"/>
          </a:xfrm>
        </p:spPr>
        <p:txBody>
          <a:bodyPr>
            <a:normAutofit/>
          </a:bodyPr>
          <a:lstStyle/>
          <a:p>
            <a:pPr algn="l">
              <a:spcBef>
                <a:spcPts val="1372"/>
              </a:spcBef>
              <a:spcAft>
                <a:spcPts val="1029"/>
              </a:spcAft>
            </a:pPr>
            <a:r>
              <a:rPr lang="en-US" b="0" dirty="0">
                <a:solidFill>
                  <a:srgbClr val="F8FAFF"/>
                </a:solidFill>
                <a:effectLst/>
                <a:latin typeface="Times New Roman" panose="02020603050405020304" pitchFamily="18" charset="0"/>
                <a:cs typeface="Times New Roman" panose="02020603050405020304" pitchFamily="18" charset="0"/>
              </a:rPr>
              <a:t>REFERENCES </a:t>
            </a:r>
            <a:endParaRPr lang="en-US" b="0" i="0" dirty="0">
              <a:solidFill>
                <a:srgbClr val="F8FAFF"/>
              </a:solidFill>
              <a:effectLst/>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6594FDF1-E185-1B2D-F064-D96099943639}"/>
              </a:ext>
            </a:extLst>
          </p:cNvPr>
          <p:cNvSpPr>
            <a:spLocks noGrp="1" noChangeArrowheads="1"/>
          </p:cNvSpPr>
          <p:nvPr>
            <p:ph idx="1"/>
          </p:nvPr>
        </p:nvSpPr>
        <p:spPr bwMode="auto">
          <a:xfrm>
            <a:off x="801947" y="1664840"/>
            <a:ext cx="10353761" cy="4260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1" indent="0" algn="l">
              <a:lnSpc>
                <a:spcPts val="2143"/>
              </a:lnSpc>
              <a:spcBef>
                <a:spcPts val="300"/>
              </a:spcBef>
              <a:spcAft>
                <a:spcPts val="1029"/>
              </a:spcAft>
              <a:buNone/>
            </a:pPr>
            <a:r>
              <a:rPr lang="en-US" b="0" i="0" dirty="0">
                <a:solidFill>
                  <a:srgbClr val="F8FAFF"/>
                </a:solidFill>
                <a:effectLst/>
                <a:latin typeface="Times New Roman" panose="02020603050405020304" pitchFamily="18" charset="0"/>
                <a:cs typeface="Times New Roman" panose="02020603050405020304" pitchFamily="18" charset="0"/>
              </a:rPr>
              <a:t>Mandal N. (1998), ‘Simulating the impact of climatic variability and climate change on growth and yield of chickpea and </a:t>
            </a:r>
            <a:r>
              <a:rPr lang="en-US" b="0" i="0" dirty="0" err="1">
                <a:solidFill>
                  <a:srgbClr val="F8FAFF"/>
                </a:solidFill>
                <a:effectLst/>
                <a:latin typeface="Times New Roman" panose="02020603050405020304" pitchFamily="18" charset="0"/>
                <a:cs typeface="Times New Roman" panose="02020603050405020304" pitchFamily="18" charset="0"/>
              </a:rPr>
              <a:t>pigeonpea</a:t>
            </a:r>
            <a:r>
              <a:rPr lang="en-US" b="0" i="0" dirty="0">
                <a:solidFill>
                  <a:srgbClr val="F8FAFF"/>
                </a:solidFill>
                <a:effectLst/>
                <a:latin typeface="Times New Roman" panose="02020603050405020304" pitchFamily="18" charset="0"/>
                <a:cs typeface="Times New Roman" panose="02020603050405020304" pitchFamily="18" charset="0"/>
              </a:rPr>
              <a:t> crops’, MSc thesis, Division of Environmental Sciences, IARI, New Delhi.</a:t>
            </a:r>
          </a:p>
          <a:p>
            <a:pPr marL="457200" lvl="1" indent="0" algn="l">
              <a:lnSpc>
                <a:spcPts val="2143"/>
              </a:lnSpc>
              <a:spcBef>
                <a:spcPts val="300"/>
              </a:spcBef>
              <a:spcAft>
                <a:spcPts val="1029"/>
              </a:spcAft>
              <a:buNone/>
            </a:pPr>
            <a:r>
              <a:rPr lang="en-US" b="0" i="0" dirty="0">
                <a:solidFill>
                  <a:srgbClr val="F8FAFF"/>
                </a:solidFill>
                <a:effectLst/>
                <a:latin typeface="Times New Roman" panose="02020603050405020304" pitchFamily="18" charset="0"/>
                <a:cs typeface="Times New Roman" panose="02020603050405020304" pitchFamily="18" charset="0"/>
              </a:rPr>
              <a:t>Sahoo S. K. (1999), ‘Simulating growth and yield of maize in the different </a:t>
            </a:r>
            <a:r>
              <a:rPr lang="en-US" b="0" i="0" dirty="0" err="1">
                <a:solidFill>
                  <a:srgbClr val="F8FAFF"/>
                </a:solidFill>
                <a:effectLst/>
                <a:latin typeface="Times New Roman" panose="02020603050405020304" pitchFamily="18" charset="0"/>
                <a:cs typeface="Times New Roman" panose="02020603050405020304" pitchFamily="18" charset="0"/>
              </a:rPr>
              <a:t>agro</a:t>
            </a:r>
            <a:r>
              <a:rPr lang="en-US" b="0" i="0" dirty="0">
                <a:solidFill>
                  <a:srgbClr val="F8FAFF"/>
                </a:solidFill>
                <a:effectLst/>
                <a:latin typeface="Times New Roman" panose="02020603050405020304" pitchFamily="18" charset="0"/>
                <a:cs typeface="Times New Roman" panose="02020603050405020304" pitchFamily="18" charset="0"/>
              </a:rPr>
              <a:t>-climatic regions’, MSc thesis, Division of Environmental Sciences, IARI, New Delhi.</a:t>
            </a:r>
          </a:p>
          <a:p>
            <a:pPr marL="457200" lvl="1" indent="0" algn="l">
              <a:lnSpc>
                <a:spcPts val="2143"/>
              </a:lnSpc>
              <a:spcBef>
                <a:spcPts val="300"/>
              </a:spcBef>
              <a:spcAft>
                <a:spcPts val="1029"/>
              </a:spcAft>
              <a:buNone/>
            </a:pPr>
            <a:r>
              <a:rPr lang="en-US" b="0" i="0" dirty="0">
                <a:solidFill>
                  <a:srgbClr val="F8FAFF"/>
                </a:solidFill>
                <a:effectLst/>
                <a:latin typeface="Times New Roman" panose="02020603050405020304" pitchFamily="18" charset="0"/>
                <a:cs typeface="Times New Roman" panose="02020603050405020304" pitchFamily="18" charset="0"/>
              </a:rPr>
              <a:t>Kalra N., and Aggarwal P. K. (1996), ‘Evaluating the growth response for wheat under varying inputs and changing climate options using wheat growth simulator – WTGROWS’, in Abrol Y. P., Gadgil S., and Pant G. B., eds, Climatic Variability and Agriculture, </a:t>
            </a:r>
            <a:r>
              <a:rPr lang="en-US" b="0" i="0" dirty="0" err="1">
                <a:solidFill>
                  <a:srgbClr val="F8FAFF"/>
                </a:solidFill>
                <a:effectLst/>
                <a:latin typeface="Times New Roman" panose="02020603050405020304" pitchFamily="18" charset="0"/>
                <a:cs typeface="Times New Roman" panose="02020603050405020304" pitchFamily="18" charset="0"/>
              </a:rPr>
              <a:t>Narosa</a:t>
            </a:r>
            <a:r>
              <a:rPr lang="en-US" b="0" i="0" dirty="0">
                <a:solidFill>
                  <a:srgbClr val="F8FAFF"/>
                </a:solidFill>
                <a:effectLst/>
                <a:latin typeface="Times New Roman" panose="02020603050405020304" pitchFamily="18" charset="0"/>
                <a:cs typeface="Times New Roman" panose="02020603050405020304" pitchFamily="18" charset="0"/>
              </a:rPr>
              <a:t> Publishing House, New Delhi, pp 320–338.</a:t>
            </a:r>
          </a:p>
          <a:p>
            <a:pPr marL="457200" lvl="1" indent="0" algn="l">
              <a:lnSpc>
                <a:spcPts val="2143"/>
              </a:lnSpc>
              <a:spcBef>
                <a:spcPts val="300"/>
              </a:spcBef>
              <a:spcAft>
                <a:spcPts val="1029"/>
              </a:spcAft>
              <a:buNone/>
            </a:pPr>
            <a:r>
              <a:rPr lang="en-US" b="0" i="0" dirty="0">
                <a:solidFill>
                  <a:srgbClr val="F8FAFF"/>
                </a:solidFill>
                <a:effectLst/>
                <a:latin typeface="Times New Roman" panose="02020603050405020304" pitchFamily="18" charset="0"/>
                <a:cs typeface="Times New Roman" panose="02020603050405020304" pitchFamily="18" charset="0"/>
              </a:rPr>
              <a:t>IPCC. Summary for Policymakers. In: Global Warming of 1.5°C. Masson-Delmotte, V., P. Zhai, H.-O. </a:t>
            </a:r>
            <a:r>
              <a:rPr lang="en-US" b="0" i="0" dirty="0" err="1">
                <a:solidFill>
                  <a:srgbClr val="F8FAFF"/>
                </a:solidFill>
                <a:effectLst/>
                <a:latin typeface="Times New Roman" panose="02020603050405020304" pitchFamily="18" charset="0"/>
                <a:cs typeface="Times New Roman" panose="02020603050405020304" pitchFamily="18" charset="0"/>
              </a:rPr>
              <a:t>Pörtner</a:t>
            </a:r>
            <a:r>
              <a:rPr lang="en-US" b="0" i="0" dirty="0">
                <a:solidFill>
                  <a:srgbClr val="F8FAFF"/>
                </a:solidFill>
                <a:effectLst/>
                <a:latin typeface="Times New Roman" panose="02020603050405020304" pitchFamily="18" charset="0"/>
                <a:cs typeface="Times New Roman" panose="02020603050405020304" pitchFamily="18" charset="0"/>
              </a:rPr>
              <a:t>, D. Roberts, J. Skea, P.R. Shukla, A. Pirani, W. </a:t>
            </a:r>
            <a:r>
              <a:rPr lang="en-US" b="0" i="0" dirty="0" err="1">
                <a:solidFill>
                  <a:srgbClr val="F8FAFF"/>
                </a:solidFill>
                <a:effectLst/>
                <a:latin typeface="Times New Roman" panose="02020603050405020304" pitchFamily="18" charset="0"/>
                <a:cs typeface="Times New Roman" panose="02020603050405020304" pitchFamily="18" charset="0"/>
              </a:rPr>
              <a:t>Moufouma</a:t>
            </a:r>
            <a:r>
              <a:rPr lang="en-US" b="0" i="0" dirty="0">
                <a:solidFill>
                  <a:srgbClr val="F8FAFF"/>
                </a:solidFill>
                <a:effectLst/>
                <a:latin typeface="Times New Roman" panose="02020603050405020304" pitchFamily="18" charset="0"/>
                <a:cs typeface="Times New Roman" panose="02020603050405020304" pitchFamily="18" charset="0"/>
              </a:rPr>
              <a:t>-Okia, C. </a:t>
            </a:r>
            <a:r>
              <a:rPr lang="en-US" b="0" i="0" dirty="0" err="1">
                <a:solidFill>
                  <a:srgbClr val="F8FAFF"/>
                </a:solidFill>
                <a:effectLst/>
                <a:latin typeface="Times New Roman" panose="02020603050405020304" pitchFamily="18" charset="0"/>
                <a:cs typeface="Times New Roman" panose="02020603050405020304" pitchFamily="18" charset="0"/>
              </a:rPr>
              <a:t>Péan</a:t>
            </a:r>
            <a:r>
              <a:rPr lang="en-US" b="0" i="0" dirty="0">
                <a:solidFill>
                  <a:srgbClr val="F8FAFF"/>
                </a:solidFill>
                <a:effectLst/>
                <a:latin typeface="Times New Roman" panose="02020603050405020304" pitchFamily="18" charset="0"/>
                <a:cs typeface="Times New Roman" panose="02020603050405020304" pitchFamily="18" charset="0"/>
              </a:rPr>
              <a:t>, R. Pidcock, S. Connors, J.B.R. Matthews, Y. Chen, X. Zhou, M.I. Gomis, E. </a:t>
            </a:r>
            <a:r>
              <a:rPr lang="en-US" b="0" i="0" dirty="0" err="1">
                <a:solidFill>
                  <a:srgbClr val="F8FAFF"/>
                </a:solidFill>
                <a:effectLst/>
                <a:latin typeface="Times New Roman" panose="02020603050405020304" pitchFamily="18" charset="0"/>
                <a:cs typeface="Times New Roman" panose="02020603050405020304" pitchFamily="18" charset="0"/>
              </a:rPr>
              <a:t>Lonnoy</a:t>
            </a:r>
            <a:r>
              <a:rPr lang="en-US" b="0" i="0" dirty="0">
                <a:solidFill>
                  <a:srgbClr val="F8FAFF"/>
                </a:solidFill>
                <a:effectLst/>
                <a:latin typeface="Times New Roman" panose="02020603050405020304" pitchFamily="18" charset="0"/>
                <a:cs typeface="Times New Roman" panose="02020603050405020304" pitchFamily="18" charset="0"/>
              </a:rPr>
              <a:t>, T. Maycock, M. Tignor, &amp; T. Waterfield (Eds.)], World Meteorological Organization, Geneva, Switzerland, 2018.</a:t>
            </a:r>
          </a:p>
          <a:p>
            <a:pPr marL="457200" lvl="1" indent="0" algn="l">
              <a:lnSpc>
                <a:spcPts val="2143"/>
              </a:lnSpc>
              <a:spcBef>
                <a:spcPts val="300"/>
              </a:spcBef>
              <a:spcAft>
                <a:spcPts val="1029"/>
              </a:spcAft>
              <a:buNone/>
            </a:pPr>
            <a:r>
              <a:rPr lang="en-US" b="0" i="0" dirty="0">
                <a:solidFill>
                  <a:srgbClr val="F8FAFF"/>
                </a:solidFill>
                <a:effectLst/>
                <a:latin typeface="Times New Roman" panose="02020603050405020304" pitchFamily="18" charset="0"/>
                <a:cs typeface="Times New Roman" panose="02020603050405020304" pitchFamily="18" charset="0"/>
              </a:rPr>
              <a:t>MMST-</a:t>
            </a:r>
            <a:r>
              <a:rPr lang="en-US" b="0" i="0" dirty="0" err="1">
                <a:solidFill>
                  <a:srgbClr val="F8FAFF"/>
                </a:solidFill>
                <a:effectLst/>
                <a:latin typeface="Times New Roman" panose="02020603050405020304" pitchFamily="18" charset="0"/>
                <a:cs typeface="Times New Roman" panose="02020603050405020304" pitchFamily="18" charset="0"/>
              </a:rPr>
              <a:t>ViT</a:t>
            </a:r>
            <a:r>
              <a:rPr lang="en-US" b="0" i="0" dirty="0">
                <a:solidFill>
                  <a:srgbClr val="F8FAFF"/>
                </a:solidFill>
                <a:effectLst/>
                <a:latin typeface="Times New Roman" panose="02020603050405020304" pitchFamily="18" charset="0"/>
                <a:cs typeface="Times New Roman" panose="02020603050405020304" pitchFamily="18" charset="0"/>
              </a:rPr>
              <a:t>: Climate Change-aware Crop Yield Prediction via Multi-Modal Spatial-Temporal Vision Transformer</a:t>
            </a:r>
          </a:p>
        </p:txBody>
      </p:sp>
    </p:spTree>
    <p:extLst>
      <p:ext uri="{BB962C8B-B14F-4D97-AF65-F5344CB8AC3E}">
        <p14:creationId xmlns:p14="http://schemas.microsoft.com/office/powerpoint/2010/main" val="6554853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5FB7E-C405-EB0E-F721-F750A58E15EC}"/>
            </a:ext>
          </a:extLst>
        </p:cNvPr>
        <p:cNvGrpSpPr/>
        <p:nvPr/>
      </p:nvGrpSpPr>
      <p:grpSpPr>
        <a:xfrm>
          <a:off x="0" y="0"/>
          <a:ext cx="0" cy="0"/>
          <a:chOff x="0" y="0"/>
          <a:chExt cx="0" cy="0"/>
        </a:xfrm>
      </p:grpSpPr>
      <p:pic>
        <p:nvPicPr>
          <p:cNvPr id="8" name="Picture 7" descr="A green field with trees and a river&#10;&#10;AI-generated content may be incorrect.">
            <a:extLst>
              <a:ext uri="{FF2B5EF4-FFF2-40B4-BE49-F238E27FC236}">
                <a16:creationId xmlns:a16="http://schemas.microsoft.com/office/drawing/2014/main" id="{830130FD-A3A1-96CF-DE77-2B15CDBA89C9}"/>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6467" b="16152"/>
          <a:stretch/>
        </p:blipFill>
        <p:spPr>
          <a:xfrm>
            <a:off x="20" y="2030"/>
            <a:ext cx="12191980" cy="6855970"/>
          </a:xfrm>
          <a:prstGeom prst="rect">
            <a:avLst/>
          </a:prstGeom>
        </p:spPr>
      </p:pic>
      <p:sp>
        <p:nvSpPr>
          <p:cNvPr id="2" name="Title 1">
            <a:extLst>
              <a:ext uri="{FF2B5EF4-FFF2-40B4-BE49-F238E27FC236}">
                <a16:creationId xmlns:a16="http://schemas.microsoft.com/office/drawing/2014/main" id="{0A3D4F07-6B1F-25A8-E18A-D592886EBC99}"/>
              </a:ext>
            </a:extLst>
          </p:cNvPr>
          <p:cNvSpPr>
            <a:spLocks noGrp="1"/>
          </p:cNvSpPr>
          <p:nvPr>
            <p:ph type="title"/>
          </p:nvPr>
        </p:nvSpPr>
        <p:spPr>
          <a:xfrm>
            <a:off x="913795" y="609600"/>
            <a:ext cx="10353761" cy="1326321"/>
          </a:xfrm>
        </p:spPr>
        <p:txBody>
          <a:bodyPr>
            <a:normAutofit/>
          </a:bodyPr>
          <a:lstStyle/>
          <a:p>
            <a:pPr algn="l">
              <a:spcBef>
                <a:spcPts val="1372"/>
              </a:spcBef>
              <a:spcAft>
                <a:spcPts val="1029"/>
              </a:spcAft>
            </a:pPr>
            <a:r>
              <a:rPr lang="en-US" b="0" dirty="0">
                <a:solidFill>
                  <a:srgbClr val="F8FAFF"/>
                </a:solidFill>
                <a:effectLst/>
                <a:latin typeface="Times New Roman" panose="02020603050405020304" pitchFamily="18" charset="0"/>
                <a:cs typeface="Times New Roman" panose="02020603050405020304" pitchFamily="18" charset="0"/>
              </a:rPr>
              <a:t>REFERENCES </a:t>
            </a:r>
            <a:endParaRPr lang="en-US" b="0" i="0" dirty="0">
              <a:solidFill>
                <a:srgbClr val="F8FAFF"/>
              </a:solidFill>
              <a:effectLst/>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3A7F64BF-A934-DF55-2421-E717551C6A2F}"/>
              </a:ext>
            </a:extLst>
          </p:cNvPr>
          <p:cNvSpPr>
            <a:spLocks noGrp="1" noChangeArrowheads="1"/>
          </p:cNvSpPr>
          <p:nvPr>
            <p:ph idx="1"/>
          </p:nvPr>
        </p:nvSpPr>
        <p:spPr bwMode="auto">
          <a:xfrm>
            <a:off x="731609" y="1841750"/>
            <a:ext cx="10353761" cy="3080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1" indent="0" algn="l">
              <a:lnSpc>
                <a:spcPts val="2143"/>
              </a:lnSpc>
              <a:spcBef>
                <a:spcPts val="300"/>
              </a:spcBef>
              <a:spcAft>
                <a:spcPts val="1029"/>
              </a:spcAft>
              <a:buNone/>
            </a:pPr>
            <a:r>
              <a:rPr lang="en-US" b="0" i="0" dirty="0">
                <a:solidFill>
                  <a:srgbClr val="F8FAFF"/>
                </a:solidFill>
                <a:effectLst/>
                <a:latin typeface="Times New Roman" panose="02020603050405020304" pitchFamily="18" charset="0"/>
                <a:cs typeface="Times New Roman" panose="02020603050405020304" pitchFamily="18" charset="0"/>
              </a:rPr>
              <a:t>Lal M., Singh K. K., Srinivasan G., Rathore L. S., and Naidu D. (1999), ‘Growth and yield response of soybean in Madhya Pradesh, India to climate variability and change’, Agriculture and Forest Meteorology, Vol 93, pp 53–70.</a:t>
            </a:r>
          </a:p>
          <a:p>
            <a:pPr marL="457200" lvl="1" indent="0" algn="l">
              <a:lnSpc>
                <a:spcPts val="2143"/>
              </a:lnSpc>
              <a:spcBef>
                <a:spcPts val="300"/>
              </a:spcBef>
              <a:spcAft>
                <a:spcPts val="1029"/>
              </a:spcAft>
              <a:buNone/>
            </a:pPr>
            <a:r>
              <a:rPr lang="en-US" b="0" i="0" dirty="0">
                <a:solidFill>
                  <a:srgbClr val="F8FAFF"/>
                </a:solidFill>
                <a:effectLst/>
                <a:latin typeface="Times New Roman" panose="02020603050405020304" pitchFamily="18" charset="0"/>
                <a:cs typeface="Times New Roman" panose="02020603050405020304" pitchFamily="18" charset="0"/>
              </a:rPr>
              <a:t>Carter I (2007). </a:t>
            </a:r>
            <a:r>
              <a:rPr lang="en-US" b="0" i="0" dirty="0" err="1">
                <a:solidFill>
                  <a:srgbClr val="F8FAFF"/>
                </a:solidFill>
                <a:effectLst/>
                <a:latin typeface="Times New Roman" panose="02020603050405020304" pitchFamily="18" charset="0"/>
                <a:cs typeface="Times New Roman" panose="02020603050405020304" pitchFamily="18" charset="0"/>
              </a:rPr>
              <a:t>Footsteps.Climate</a:t>
            </a:r>
            <a:r>
              <a:rPr lang="en-US" b="0" i="0" dirty="0">
                <a:solidFill>
                  <a:srgbClr val="F8FAFF"/>
                </a:solidFill>
                <a:effectLst/>
                <a:latin typeface="Times New Roman" panose="02020603050405020304" pitchFamily="18" charset="0"/>
                <a:cs typeface="Times New Roman" panose="02020603050405020304" pitchFamily="18" charset="0"/>
              </a:rPr>
              <a:t> change and agriculture. Tearfund, UK. pp. 1-4. </a:t>
            </a:r>
          </a:p>
          <a:p>
            <a:pPr marL="457200" lvl="1" indent="0" algn="l">
              <a:lnSpc>
                <a:spcPts val="2143"/>
              </a:lnSpc>
              <a:spcBef>
                <a:spcPts val="300"/>
              </a:spcBef>
              <a:spcAft>
                <a:spcPts val="1029"/>
              </a:spcAft>
              <a:buNone/>
            </a:pPr>
            <a:r>
              <a:rPr lang="en-US" b="0" i="0" dirty="0">
                <a:solidFill>
                  <a:srgbClr val="F8FAFF"/>
                </a:solidFill>
                <a:effectLst/>
                <a:latin typeface="Times New Roman" panose="02020603050405020304" pitchFamily="18" charset="0"/>
                <a:cs typeface="Times New Roman" panose="02020603050405020304" pitchFamily="18" charset="0"/>
              </a:rPr>
              <a:t>Charney J (1975). Dynamics of Deserts and droughts in the Sahel. Quarterly J. Royal </a:t>
            </a:r>
          </a:p>
          <a:p>
            <a:pPr marL="457200" lvl="1" indent="0" algn="l">
              <a:lnSpc>
                <a:spcPts val="2143"/>
              </a:lnSpc>
              <a:spcBef>
                <a:spcPts val="300"/>
              </a:spcBef>
              <a:spcAft>
                <a:spcPts val="1029"/>
              </a:spcAft>
              <a:buNone/>
            </a:pPr>
            <a:r>
              <a:rPr lang="en-US" b="0" i="0" dirty="0" err="1">
                <a:solidFill>
                  <a:srgbClr val="F8FAFF"/>
                </a:solidFill>
                <a:effectLst/>
                <a:latin typeface="Times New Roman" panose="02020603050405020304" pitchFamily="18" charset="0"/>
                <a:cs typeface="Times New Roman" panose="02020603050405020304" pitchFamily="18" charset="0"/>
              </a:rPr>
              <a:t>Meteorol</a:t>
            </a:r>
            <a:r>
              <a:rPr lang="en-US" b="0" i="0" dirty="0">
                <a:solidFill>
                  <a:srgbClr val="F8FAFF"/>
                </a:solidFill>
                <a:effectLst/>
                <a:latin typeface="Times New Roman" panose="02020603050405020304" pitchFamily="18" charset="0"/>
                <a:cs typeface="Times New Roman" panose="02020603050405020304" pitchFamily="18" charset="0"/>
              </a:rPr>
              <a:t>. Soc. 101: 193-202. </a:t>
            </a:r>
          </a:p>
          <a:p>
            <a:pPr marL="457200" lvl="1" indent="0" algn="l">
              <a:lnSpc>
                <a:spcPts val="2143"/>
              </a:lnSpc>
              <a:spcBef>
                <a:spcPts val="300"/>
              </a:spcBef>
              <a:spcAft>
                <a:spcPts val="1029"/>
              </a:spcAft>
              <a:buNone/>
            </a:pPr>
            <a:r>
              <a:rPr lang="en-US" b="0" i="0" dirty="0">
                <a:solidFill>
                  <a:srgbClr val="F8FAFF"/>
                </a:solidFill>
                <a:effectLst/>
                <a:latin typeface="Times New Roman" panose="02020603050405020304" pitchFamily="18" charset="0"/>
                <a:cs typeface="Times New Roman" panose="02020603050405020304" pitchFamily="18" charset="0"/>
              </a:rPr>
              <a:t>PCC (2001). Intergovernmental Panel on Climate Change bulletin. Jackson IJ (1989). </a:t>
            </a:r>
          </a:p>
          <a:p>
            <a:pPr marL="457200" lvl="1" indent="0" algn="l">
              <a:lnSpc>
                <a:spcPts val="2143"/>
              </a:lnSpc>
              <a:spcBef>
                <a:spcPts val="300"/>
              </a:spcBef>
              <a:spcAft>
                <a:spcPts val="1029"/>
              </a:spcAft>
              <a:buNone/>
            </a:pPr>
            <a:r>
              <a:rPr lang="en-US" b="0" i="0" dirty="0">
                <a:solidFill>
                  <a:srgbClr val="F8FAFF"/>
                </a:solidFill>
                <a:effectLst/>
                <a:latin typeface="Times New Roman" panose="02020603050405020304" pitchFamily="18" charset="0"/>
                <a:cs typeface="Times New Roman" panose="02020603050405020304" pitchFamily="18" charset="0"/>
              </a:rPr>
              <a:t>Climate, water and agriculture in the tropics. 2 </a:t>
            </a:r>
            <a:r>
              <a:rPr lang="en-US" b="0" i="0" dirty="0" err="1">
                <a:solidFill>
                  <a:srgbClr val="F8FAFF"/>
                </a:solidFill>
                <a:effectLst/>
                <a:latin typeface="Times New Roman" panose="02020603050405020304" pitchFamily="18" charset="0"/>
                <a:cs typeface="Times New Roman" panose="02020603050405020304" pitchFamily="18" charset="0"/>
              </a:rPr>
              <a:t>nd</a:t>
            </a:r>
            <a:r>
              <a:rPr lang="en-US" b="0" i="0" dirty="0">
                <a:solidFill>
                  <a:srgbClr val="F8FAFF"/>
                </a:solidFill>
                <a:effectLst/>
                <a:latin typeface="Times New Roman" panose="02020603050405020304" pitchFamily="18" charset="0"/>
                <a:cs typeface="Times New Roman" panose="02020603050405020304" pitchFamily="18" charset="0"/>
              </a:rPr>
              <a:t> Edition, Longman, London</a:t>
            </a:r>
          </a:p>
        </p:txBody>
      </p:sp>
    </p:spTree>
    <p:extLst>
      <p:ext uri="{BB962C8B-B14F-4D97-AF65-F5344CB8AC3E}">
        <p14:creationId xmlns:p14="http://schemas.microsoft.com/office/powerpoint/2010/main" val="34346212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a:extLst>
            <a:ext uri="{FF2B5EF4-FFF2-40B4-BE49-F238E27FC236}">
              <a16:creationId xmlns:a16="http://schemas.microsoft.com/office/drawing/2014/main" id="{A86E638E-377F-B605-5EF3-0DF98FF7BBEE}"/>
            </a:ext>
          </a:extLst>
        </p:cNvPr>
        <p:cNvGrpSpPr/>
        <p:nvPr/>
      </p:nvGrpSpPr>
      <p:grpSpPr>
        <a:xfrm>
          <a:off x="0" y="0"/>
          <a:ext cx="0" cy="0"/>
          <a:chOff x="0" y="0"/>
          <a:chExt cx="0" cy="0"/>
        </a:xfrm>
      </p:grpSpPr>
      <p:pic>
        <p:nvPicPr>
          <p:cNvPr id="8" name="Picture 7" descr="A green field with trees and a river&#10;&#10;AI-generated content may be incorrect.">
            <a:extLst>
              <a:ext uri="{FF2B5EF4-FFF2-40B4-BE49-F238E27FC236}">
                <a16:creationId xmlns:a16="http://schemas.microsoft.com/office/drawing/2014/main" id="{B88932CE-8A1B-F56B-04EA-043FCCF62102}"/>
              </a:ext>
            </a:extLst>
          </p:cNvPr>
          <p:cNvPicPr>
            <a:picLocks noChangeAspect="1"/>
          </p:cNvPicPr>
          <p:nvPr/>
        </p:nvPicPr>
        <p:blipFill>
          <a:blip r:embed="rId3">
            <a:extLst>
              <a:ext uri="{28A0092B-C50C-407E-A947-70E740481C1C}">
                <a14:useLocalDpi xmlns:a14="http://schemas.microsoft.com/office/drawing/2010/main" val="0"/>
              </a:ext>
            </a:extLst>
          </a:blip>
          <a:srcRect t="26467" b="16152"/>
          <a:stretch/>
        </p:blipFill>
        <p:spPr>
          <a:xfrm>
            <a:off x="20" y="2030"/>
            <a:ext cx="12191980" cy="6855970"/>
          </a:xfrm>
          <a:prstGeom prst="rect">
            <a:avLst/>
          </a:prstGeom>
        </p:spPr>
      </p:pic>
      <p:sp>
        <p:nvSpPr>
          <p:cNvPr id="13" name="Rectangle 12">
            <a:extLst>
              <a:ext uri="{FF2B5EF4-FFF2-40B4-BE49-F238E27FC236}">
                <a16:creationId xmlns:a16="http://schemas.microsoft.com/office/drawing/2014/main" id="{0112D1B8-DB16-7A60-F5BE-3173E99E4E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30"/>
            <a:ext cx="12192000" cy="6858000"/>
          </a:xfrm>
          <a:prstGeom prst="rect">
            <a:avLst/>
          </a:prstGeom>
          <a:gradFill flip="none" rotWithShape="1">
            <a:gsLst>
              <a:gs pos="32000">
                <a:schemeClr val="bg2">
                  <a:lumMod val="75000"/>
                  <a:alpha val="3000"/>
                </a:schemeClr>
              </a:gs>
              <a:gs pos="100000">
                <a:sysClr val="windowText" lastClr="000000">
                  <a:alpha val="70000"/>
                </a:sysClr>
              </a:gs>
            </a:gsLst>
            <a:path path="circle">
              <a:fillToRect l="50000" t="5000" r="50000" b="95000"/>
            </a:path>
            <a:tileRect/>
          </a:gra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A9C7F4C6-D85F-53F4-7705-F984B81BD7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dpi="0" rotWithShape="1">
            <a:blip r:embed="rId2">
              <a:alphaModFix amt="30000"/>
              <a:duotone>
                <a:prstClr val="black"/>
                <a:schemeClr val="accent3">
                  <a:tint val="45000"/>
                  <a:satMod val="400000"/>
                </a:schemeClr>
              </a:duotone>
              <a:extLst>
                <a:ext uri="{BEBA8EAE-BF5A-486C-A8C5-ECC9F3942E4B}">
                  <a14:imgProps xmlns:a14="http://schemas.microsoft.com/office/drawing/2010/main">
                    <a14:imgLayer>
                      <a14:imgEffect>
                        <a14:sharpenSoften amount="35000"/>
                      </a14:imgEffect>
                    </a14:imgLayer>
                  </a14:imgProps>
                </a:ext>
              </a:extLst>
            </a:blip>
            <a:srcRect/>
            <a:tile tx="0" ty="0" sx="100000" sy="100000" flip="none" algn="ctr"/>
          </a:blip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FD527B-A543-70B6-E3AC-FDE7F261BCA2}"/>
              </a:ext>
            </a:extLst>
          </p:cNvPr>
          <p:cNvSpPr>
            <a:spLocks noGrp="1"/>
          </p:cNvSpPr>
          <p:nvPr>
            <p:ph type="title"/>
          </p:nvPr>
        </p:nvSpPr>
        <p:spPr>
          <a:xfrm>
            <a:off x="1595269" y="1122363"/>
            <a:ext cx="9001462" cy="2387600"/>
          </a:xfrm>
        </p:spPr>
        <p:txBody>
          <a:bodyPr vert="horz" lIns="91440" tIns="45720" rIns="91440" bIns="45720" rtlCol="0" anchor="b">
            <a:normAutofit/>
          </a:bodyPr>
          <a:lstStyle/>
          <a:p>
            <a:r>
              <a:rPr lang="en-US" sz="48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880341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5724</TotalTime>
  <Words>1803</Words>
  <Application>Microsoft Macintosh PowerPoint</Application>
  <PresentationFormat>Widescreen</PresentationFormat>
  <Paragraphs>141</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Bookman Old Style</vt:lpstr>
      <vt:lpstr>Calibri</vt:lpstr>
      <vt:lpstr>Rockwell</vt:lpstr>
      <vt:lpstr>Times New Roman</vt:lpstr>
      <vt:lpstr>Damask</vt:lpstr>
      <vt:lpstr>Machine Learning Analysis  of Climate Change  Impacts on Global Crop Yields</vt:lpstr>
      <vt:lpstr>Project Introduction &amp; Statement</vt:lpstr>
      <vt:lpstr>dataset</vt:lpstr>
      <vt:lpstr>Exploratory Data Analysis</vt:lpstr>
      <vt:lpstr>PowerPoint Presentation</vt:lpstr>
      <vt:lpstr>Exploratory Data Analysis</vt:lpstr>
      <vt:lpstr>Exploratory Data Analysis</vt:lpstr>
      <vt:lpstr>Exploratory Data Analysis</vt:lpstr>
      <vt:lpstr>Exploratory Data Analysis</vt:lpstr>
      <vt:lpstr>Exploratory Data Analysis</vt:lpstr>
      <vt:lpstr>Exploratory Data Analysis</vt:lpstr>
      <vt:lpstr>PowerPoint Presentation</vt:lpstr>
      <vt:lpstr>Proposed Solution</vt:lpstr>
      <vt:lpstr>Proposed Solution</vt:lpstr>
      <vt:lpstr>RESULTS &amp; ANALYSIS </vt:lpstr>
      <vt:lpstr>RESULTS &amp; ANALYSIS</vt:lpstr>
      <vt:lpstr>Model Explainability with SHAP</vt:lpstr>
      <vt:lpstr>Critical Findings</vt:lpstr>
      <vt:lpstr>Recommendations</vt:lpstr>
      <vt:lpstr>Recommendations</vt:lpstr>
      <vt:lpstr>Conclusions &amp; Future Work</vt:lpstr>
      <vt:lpstr>REFERENCES </vt:lpstr>
      <vt:lpstr>REFERENCES </vt:lpstr>
      <vt:lpstr>REFERENCES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Chalamalasetty, Mr. Hari Gopal</cp:lastModifiedBy>
  <cp:revision>89</cp:revision>
  <dcterms:created xsi:type="dcterms:W3CDTF">2025-03-03T20:35:55Z</dcterms:created>
  <dcterms:modified xsi:type="dcterms:W3CDTF">2025-05-12T19:46:43Z</dcterms:modified>
</cp:coreProperties>
</file>